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Garet Bold" charset="1" panose="00000000000000000000"/>
      <p:regular r:id="rId20"/>
    </p:embeddedFont>
    <p:embeddedFont>
      <p:font typeface="Open Sans" charset="1" panose="00000000000000000000"/>
      <p:regular r:id="rId21"/>
    </p:embeddedFont>
    <p:embeddedFont>
      <p:font typeface="Proxima Nova Bold" charset="1" panose="02000506030000020004"/>
      <p:regular r:id="rId22"/>
    </p:embeddedFont>
    <p:embeddedFont>
      <p:font typeface="Garet"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14.png" Type="http://schemas.openxmlformats.org/officeDocument/2006/relationships/image"/><Relationship Id="rId12" Target="../media/image15.png" Type="http://schemas.openxmlformats.org/officeDocument/2006/relationships/image"/><Relationship Id="rId13" Target="../media/image16.png" Type="http://schemas.openxmlformats.org/officeDocument/2006/relationships/image"/><Relationship Id="rId14"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12" Target="../media/image22.png" Type="http://schemas.openxmlformats.org/officeDocument/2006/relationships/image"/><Relationship Id="rId13" Target="../media/image23.png" Type="http://schemas.openxmlformats.org/officeDocument/2006/relationships/image"/><Relationship Id="rId14" Target="../media/image2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0.pn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sp>
        <p:nvSpPr>
          <p:cNvPr name="AutoShape 2" id="2"/>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3" id="3"/>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0" y="2310646"/>
            <a:ext cx="2542423" cy="316036"/>
            <a:chOff x="0" y="0"/>
            <a:chExt cx="669609" cy="83236"/>
          </a:xfrm>
        </p:grpSpPr>
        <p:sp>
          <p:nvSpPr>
            <p:cNvPr name="Freeform 6" id="6"/>
            <p:cNvSpPr/>
            <p:nvPr/>
          </p:nvSpPr>
          <p:spPr>
            <a:xfrm flipH="false" flipV="false" rot="0">
              <a:off x="0" y="0"/>
              <a:ext cx="669609" cy="83236"/>
            </a:xfrm>
            <a:custGeom>
              <a:avLst/>
              <a:gdLst/>
              <a:ahLst/>
              <a:cxnLst/>
              <a:rect r="r" b="b" t="t" l="l"/>
              <a:pathLst>
                <a:path h="83236" w="669609">
                  <a:moveTo>
                    <a:pt x="669609" y="0"/>
                  </a:moveTo>
                  <a:lnTo>
                    <a:pt x="0" y="0"/>
                  </a:lnTo>
                  <a:lnTo>
                    <a:pt x="0" y="83236"/>
                  </a:lnTo>
                  <a:lnTo>
                    <a:pt x="669609" y="83236"/>
                  </a:lnTo>
                  <a:close/>
                </a:path>
              </a:pathLst>
            </a:custGeom>
            <a:solidFill>
              <a:srgbClr val="7ED957"/>
            </a:solidFill>
          </p:spPr>
        </p:sp>
        <p:sp>
          <p:nvSpPr>
            <p:cNvPr name="TextBox 7" id="7"/>
            <p:cNvSpPr txBox="true"/>
            <p:nvPr/>
          </p:nvSpPr>
          <p:spPr>
            <a:xfrm>
              <a:off x="0" y="-19050"/>
              <a:ext cx="669609" cy="102286"/>
            </a:xfrm>
            <a:prstGeom prst="rect">
              <a:avLst/>
            </a:prstGeom>
          </p:spPr>
          <p:txBody>
            <a:bodyPr anchor="ctr" rtlCol="false" tIns="50800" lIns="50800" bIns="50800" rIns="50800"/>
            <a:lstStyle/>
            <a:p>
              <a:pPr algn="ctr" rtl="true" marL="0" indent="0" lvl="0">
                <a:lnSpc>
                  <a:spcPts val="2540"/>
                </a:lnSpc>
              </a:pPr>
            </a:p>
          </p:txBody>
        </p:sp>
      </p:grpSp>
      <p:grpSp>
        <p:nvGrpSpPr>
          <p:cNvPr name="Group 8" id="8"/>
          <p:cNvGrpSpPr/>
          <p:nvPr/>
        </p:nvGrpSpPr>
        <p:grpSpPr>
          <a:xfrm rot="0">
            <a:off x="15745577" y="2310646"/>
            <a:ext cx="2542423" cy="316036"/>
            <a:chOff x="0" y="0"/>
            <a:chExt cx="669609" cy="83236"/>
          </a:xfrm>
        </p:grpSpPr>
        <p:sp>
          <p:nvSpPr>
            <p:cNvPr name="Freeform 9" id="9"/>
            <p:cNvSpPr/>
            <p:nvPr/>
          </p:nvSpPr>
          <p:spPr>
            <a:xfrm flipH="false" flipV="false" rot="0">
              <a:off x="0" y="0"/>
              <a:ext cx="669609" cy="83236"/>
            </a:xfrm>
            <a:custGeom>
              <a:avLst/>
              <a:gdLst/>
              <a:ahLst/>
              <a:cxnLst/>
              <a:rect r="r" b="b" t="t" l="l"/>
              <a:pathLst>
                <a:path h="83236" w="669609">
                  <a:moveTo>
                    <a:pt x="669609" y="0"/>
                  </a:moveTo>
                  <a:lnTo>
                    <a:pt x="0" y="0"/>
                  </a:lnTo>
                  <a:lnTo>
                    <a:pt x="0" y="83236"/>
                  </a:lnTo>
                  <a:lnTo>
                    <a:pt x="669609" y="83236"/>
                  </a:lnTo>
                  <a:close/>
                </a:path>
              </a:pathLst>
            </a:custGeom>
            <a:solidFill>
              <a:srgbClr val="7ED957"/>
            </a:solidFill>
          </p:spPr>
        </p:sp>
        <p:sp>
          <p:nvSpPr>
            <p:cNvPr name="TextBox 10" id="10"/>
            <p:cNvSpPr txBox="true"/>
            <p:nvPr/>
          </p:nvSpPr>
          <p:spPr>
            <a:xfrm>
              <a:off x="0" y="-19050"/>
              <a:ext cx="669609" cy="102286"/>
            </a:xfrm>
            <a:prstGeom prst="rect">
              <a:avLst/>
            </a:prstGeom>
          </p:spPr>
          <p:txBody>
            <a:bodyPr anchor="ctr" rtlCol="false" tIns="50800" lIns="50800" bIns="50800" rIns="50800"/>
            <a:lstStyle/>
            <a:p>
              <a:pPr algn="ctr" rtl="true" marL="0" indent="0" lvl="0">
                <a:lnSpc>
                  <a:spcPts val="2540"/>
                </a:lnSpc>
              </a:pPr>
            </a:p>
          </p:txBody>
        </p:sp>
      </p:grpSp>
      <p:sp>
        <p:nvSpPr>
          <p:cNvPr name="Freeform 11" id="11"/>
          <p:cNvSpPr/>
          <p:nvPr/>
        </p:nvSpPr>
        <p:spPr>
          <a:xfrm flipH="true" flipV="false" rot="0">
            <a:off x="17082153" y="833522"/>
            <a:ext cx="354294" cy="390407"/>
          </a:xfrm>
          <a:custGeom>
            <a:avLst/>
            <a:gdLst/>
            <a:ahLst/>
            <a:cxnLst/>
            <a:rect r="r" b="b" t="t" l="l"/>
            <a:pathLst>
              <a:path h="390407" w="354294">
                <a:moveTo>
                  <a:pt x="354294" y="0"/>
                </a:moveTo>
                <a:lnTo>
                  <a:pt x="0" y="0"/>
                </a:lnTo>
                <a:lnTo>
                  <a:pt x="0" y="390406"/>
                </a:lnTo>
                <a:lnTo>
                  <a:pt x="354294" y="390406"/>
                </a:lnTo>
                <a:lnTo>
                  <a:pt x="3542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true" flipV="false" rot="0">
            <a:off x="16692331" y="7823753"/>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true" flipV="false" rot="0">
            <a:off x="461731" y="3817800"/>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2280100" y="3687697"/>
            <a:ext cx="13727800" cy="854893"/>
          </a:xfrm>
          <a:prstGeom prst="rect">
            <a:avLst/>
          </a:prstGeom>
        </p:spPr>
        <p:txBody>
          <a:bodyPr anchor="t" rtlCol="false" tIns="0" lIns="0" bIns="0" rIns="0">
            <a:spAutoFit/>
          </a:bodyPr>
          <a:lstStyle/>
          <a:p>
            <a:pPr algn="ctr" rtl="true" marL="0" indent="0" lvl="0">
              <a:lnSpc>
                <a:spcPts val="6716"/>
              </a:lnSpc>
            </a:pPr>
            <a:r>
              <a:rPr lang="en-US" b="true" sz="5644" spc="502">
                <a:solidFill>
                  <a:srgbClr val="FFFFFF"/>
                </a:solidFill>
                <a:latin typeface="Garet Bold"/>
                <a:ea typeface="Garet Bold"/>
                <a:cs typeface="Garet Bold"/>
                <a:sym typeface="Garet Bold"/>
              </a:rPr>
              <a:t>TACTICAL</a:t>
            </a:r>
            <a:r>
              <a:rPr lang="en-US" b="true" sz="5644" spc="502">
                <a:solidFill>
                  <a:srgbClr val="FFFFFF"/>
                </a:solidFill>
                <a:latin typeface="Garet Bold"/>
                <a:ea typeface="Garet Bold"/>
                <a:cs typeface="Garet Bold"/>
                <a:sym typeface="Garet Bold"/>
              </a:rPr>
              <a:t> PUZZLE </a:t>
            </a:r>
            <a:r>
              <a:rPr lang="en-US" b="true" sz="5644" spc="502">
                <a:solidFill>
                  <a:srgbClr val="7ED957"/>
                </a:solidFill>
                <a:latin typeface="Garet Bold"/>
                <a:ea typeface="Garet Bold"/>
                <a:cs typeface="Garet Bold"/>
                <a:sym typeface="Garet Bold"/>
              </a:rPr>
              <a:t>ENGINE</a:t>
            </a:r>
          </a:p>
        </p:txBody>
      </p:sp>
      <p:sp>
        <p:nvSpPr>
          <p:cNvPr name="TextBox 15" id="15"/>
          <p:cNvSpPr txBox="true"/>
          <p:nvPr/>
        </p:nvSpPr>
        <p:spPr>
          <a:xfrm rot="0">
            <a:off x="14309741" y="834605"/>
            <a:ext cx="2623970" cy="454040"/>
          </a:xfrm>
          <a:prstGeom prst="rect">
            <a:avLst/>
          </a:prstGeom>
        </p:spPr>
        <p:txBody>
          <a:bodyPr anchor="t" rtlCol="false" tIns="0" lIns="0" bIns="0" rIns="0">
            <a:spAutoFit/>
          </a:bodyPr>
          <a:lstStyle/>
          <a:p>
            <a:pPr algn="r" rtl="true" marL="0" indent="0" lvl="0">
              <a:lnSpc>
                <a:spcPts val="1812"/>
              </a:lnSpc>
            </a:pPr>
            <a:r>
              <a:rPr lang="en-US" b="true" sz="1426">
                <a:solidFill>
                  <a:srgbClr val="FFFFFF"/>
                </a:solidFill>
                <a:latin typeface="Garet Bold"/>
                <a:ea typeface="Garet Bold"/>
                <a:cs typeface="Garet Bold"/>
                <a:sym typeface="Garet Bold"/>
              </a:rPr>
              <a:t>Prototype • Composite • Observer</a:t>
            </a:r>
          </a:p>
        </p:txBody>
      </p:sp>
      <p:sp>
        <p:nvSpPr>
          <p:cNvPr name="TextBox 16" id="16"/>
          <p:cNvSpPr txBox="true"/>
          <p:nvPr/>
        </p:nvSpPr>
        <p:spPr>
          <a:xfrm rot="0">
            <a:off x="3387828" y="7785653"/>
            <a:ext cx="11512345" cy="412830"/>
          </a:xfrm>
          <a:prstGeom prst="rect">
            <a:avLst/>
          </a:prstGeom>
        </p:spPr>
        <p:txBody>
          <a:bodyPr anchor="t" rtlCol="false" tIns="0" lIns="0" bIns="0" rIns="0">
            <a:spAutoFit/>
          </a:bodyPr>
          <a:lstStyle/>
          <a:p>
            <a:pPr algn="ctr" rtl="true">
              <a:lnSpc>
                <a:spcPts val="3475"/>
              </a:lnSpc>
              <a:spcBef>
                <a:spcPct val="0"/>
              </a:spcBef>
            </a:pPr>
            <a:r>
              <a:rPr lang="ar-EG" sz="2482">
                <a:solidFill>
                  <a:srgbClr val="FFFFFF"/>
                </a:solidFill>
                <a:latin typeface="Open Sans"/>
                <a:ea typeface="Open Sans"/>
                <a:cs typeface="Open Sans"/>
                <a:sym typeface="Open Sans"/>
                <a:rtl val="true"/>
              </a:rPr>
              <a:t>عبدالبارئ السنوسي الشامخ                    رجب خالد الكبتي                        محمد عادل الكيلاني</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sp>
        <p:nvSpPr>
          <p:cNvPr name="AutoShape 2" id="2"/>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3" id="3"/>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082153" y="833522"/>
            <a:ext cx="354294" cy="390407"/>
          </a:xfrm>
          <a:custGeom>
            <a:avLst/>
            <a:gdLst/>
            <a:ahLst/>
            <a:cxnLst/>
            <a:rect r="r" b="b" t="t" l="l"/>
            <a:pathLst>
              <a:path h="390407" w="354294">
                <a:moveTo>
                  <a:pt x="354294" y="0"/>
                </a:moveTo>
                <a:lnTo>
                  <a:pt x="0" y="0"/>
                </a:lnTo>
                <a:lnTo>
                  <a:pt x="0" y="390406"/>
                </a:lnTo>
                <a:lnTo>
                  <a:pt x="354294" y="390406"/>
                </a:lnTo>
                <a:lnTo>
                  <a:pt x="3542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9750171" y="2028199"/>
            <a:ext cx="7686276" cy="6230603"/>
            <a:chOff x="0" y="0"/>
            <a:chExt cx="1327337" cy="1075958"/>
          </a:xfrm>
        </p:grpSpPr>
        <p:sp>
          <p:nvSpPr>
            <p:cNvPr name="Freeform 7" id="7"/>
            <p:cNvSpPr/>
            <p:nvPr/>
          </p:nvSpPr>
          <p:spPr>
            <a:xfrm flipH="false" flipV="false" rot="0">
              <a:off x="0" y="0"/>
              <a:ext cx="1327337" cy="1075958"/>
            </a:xfrm>
            <a:custGeom>
              <a:avLst/>
              <a:gdLst/>
              <a:ahLst/>
              <a:cxnLst/>
              <a:rect r="r" b="b" t="t" l="l"/>
              <a:pathLst>
                <a:path h="1075958" w="1327337">
                  <a:moveTo>
                    <a:pt x="1297120" y="0"/>
                  </a:moveTo>
                  <a:lnTo>
                    <a:pt x="30217" y="0"/>
                  </a:lnTo>
                  <a:cubicBezTo>
                    <a:pt x="13529" y="0"/>
                    <a:pt x="0" y="13529"/>
                    <a:pt x="0" y="30217"/>
                  </a:cubicBezTo>
                  <a:lnTo>
                    <a:pt x="0" y="1045741"/>
                  </a:lnTo>
                  <a:cubicBezTo>
                    <a:pt x="0" y="1062429"/>
                    <a:pt x="13529" y="1075958"/>
                    <a:pt x="30217" y="1075958"/>
                  </a:cubicBezTo>
                  <a:lnTo>
                    <a:pt x="1297120" y="1075958"/>
                  </a:lnTo>
                  <a:cubicBezTo>
                    <a:pt x="1313809" y="1075958"/>
                    <a:pt x="1327337" y="1062429"/>
                    <a:pt x="1327337" y="1045741"/>
                  </a:cubicBezTo>
                  <a:lnTo>
                    <a:pt x="1327337" y="30217"/>
                  </a:lnTo>
                  <a:cubicBezTo>
                    <a:pt x="1327337" y="13529"/>
                    <a:pt x="1313809" y="0"/>
                    <a:pt x="1297120" y="0"/>
                  </a:cubicBezTo>
                  <a:close/>
                </a:path>
              </a:pathLst>
            </a:custGeom>
            <a:blipFill>
              <a:blip r:embed="rId8"/>
              <a:stretch>
                <a:fillRect l="0" t="-11681" r="0" b="-11681"/>
              </a:stretch>
            </a:blipFill>
            <a:ln w="95250" cap="rnd">
              <a:solidFill>
                <a:srgbClr val="FFFFFF"/>
              </a:solidFill>
              <a:prstDash val="solid"/>
              <a:round/>
            </a:ln>
          </p:spPr>
        </p:sp>
      </p:grpSp>
      <p:grpSp>
        <p:nvGrpSpPr>
          <p:cNvPr name="Group 8" id="8"/>
          <p:cNvGrpSpPr/>
          <p:nvPr/>
        </p:nvGrpSpPr>
        <p:grpSpPr>
          <a:xfrm rot="0">
            <a:off x="8684645" y="5873743"/>
            <a:ext cx="273577" cy="2735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solidFill>
              <a:srgbClr val="7ED957"/>
            </a:solidFill>
          </p:spPr>
        </p:sp>
        <p:sp>
          <p:nvSpPr>
            <p:cNvPr name="TextBox 10" id="10"/>
            <p:cNvSpPr txBox="true"/>
            <p:nvPr/>
          </p:nvSpPr>
          <p:spPr>
            <a:xfrm>
              <a:off x="76200" y="57150"/>
              <a:ext cx="660400" cy="679450"/>
            </a:xfrm>
            <a:prstGeom prst="rect">
              <a:avLst/>
            </a:prstGeom>
          </p:spPr>
          <p:txBody>
            <a:bodyPr anchor="ctr" rtlCol="false" tIns="50800" lIns="50800" bIns="50800" rIns="50800"/>
            <a:lstStyle/>
            <a:p>
              <a:pPr algn="ctr" rtl="true" marL="0" indent="0" lvl="0">
                <a:lnSpc>
                  <a:spcPts val="2540"/>
                </a:lnSpc>
              </a:pPr>
            </a:p>
          </p:txBody>
        </p:sp>
      </p:grpSp>
      <p:grpSp>
        <p:nvGrpSpPr>
          <p:cNvPr name="Group 11" id="11"/>
          <p:cNvGrpSpPr/>
          <p:nvPr/>
        </p:nvGrpSpPr>
        <p:grpSpPr>
          <a:xfrm rot="0">
            <a:off x="8684645" y="6804545"/>
            <a:ext cx="273577" cy="27357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solidFill>
              <a:srgbClr val="7ED957"/>
            </a:solidFill>
          </p:spPr>
        </p:sp>
        <p:sp>
          <p:nvSpPr>
            <p:cNvPr name="TextBox 13" id="13"/>
            <p:cNvSpPr txBox="true"/>
            <p:nvPr/>
          </p:nvSpPr>
          <p:spPr>
            <a:xfrm>
              <a:off x="76200" y="57150"/>
              <a:ext cx="660400" cy="679450"/>
            </a:xfrm>
            <a:prstGeom prst="rect">
              <a:avLst/>
            </a:prstGeom>
          </p:spPr>
          <p:txBody>
            <a:bodyPr anchor="ctr" rtlCol="false" tIns="50800" lIns="50800" bIns="50800" rIns="50800"/>
            <a:lstStyle/>
            <a:p>
              <a:pPr algn="ctr" rtl="true" marL="0" indent="0" lvl="0">
                <a:lnSpc>
                  <a:spcPts val="2540"/>
                </a:lnSpc>
              </a:pPr>
            </a:p>
          </p:txBody>
        </p:sp>
      </p:grpSp>
      <p:grpSp>
        <p:nvGrpSpPr>
          <p:cNvPr name="Group 14" id="14"/>
          <p:cNvGrpSpPr/>
          <p:nvPr/>
        </p:nvGrpSpPr>
        <p:grpSpPr>
          <a:xfrm rot="0">
            <a:off x="8684645" y="7738642"/>
            <a:ext cx="273577" cy="27357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solidFill>
              <a:srgbClr val="7ED957"/>
            </a:solidFill>
          </p:spPr>
        </p:sp>
        <p:sp>
          <p:nvSpPr>
            <p:cNvPr name="TextBox 16" id="16"/>
            <p:cNvSpPr txBox="true"/>
            <p:nvPr/>
          </p:nvSpPr>
          <p:spPr>
            <a:xfrm>
              <a:off x="76200" y="57150"/>
              <a:ext cx="660400" cy="679450"/>
            </a:xfrm>
            <a:prstGeom prst="rect">
              <a:avLst/>
            </a:prstGeom>
          </p:spPr>
          <p:txBody>
            <a:bodyPr anchor="ctr" rtlCol="false" tIns="50800" lIns="50800" bIns="50800" rIns="50800"/>
            <a:lstStyle/>
            <a:p>
              <a:pPr algn="ctr" rtl="true" marL="0" indent="0" lvl="0">
                <a:lnSpc>
                  <a:spcPts val="2540"/>
                </a:lnSpc>
              </a:pPr>
            </a:p>
          </p:txBody>
        </p:sp>
      </p:grpSp>
      <p:sp>
        <p:nvSpPr>
          <p:cNvPr name="Freeform 17" id="17"/>
          <p:cNvSpPr/>
          <p:nvPr/>
        </p:nvSpPr>
        <p:spPr>
          <a:xfrm flipH="true" flipV="false" rot="0">
            <a:off x="417122" y="4706927"/>
            <a:ext cx="1133938" cy="599570"/>
          </a:xfrm>
          <a:custGeom>
            <a:avLst/>
            <a:gdLst/>
            <a:ahLst/>
            <a:cxnLst/>
            <a:rect r="r" b="b" t="t" l="l"/>
            <a:pathLst>
              <a:path h="599570" w="1133938">
                <a:moveTo>
                  <a:pt x="1133938" y="0"/>
                </a:moveTo>
                <a:lnTo>
                  <a:pt x="0" y="0"/>
                </a:lnTo>
                <a:lnTo>
                  <a:pt x="0" y="599569"/>
                </a:lnTo>
                <a:lnTo>
                  <a:pt x="1133938" y="599569"/>
                </a:lnTo>
                <a:lnTo>
                  <a:pt x="1133938"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14309741" y="834605"/>
            <a:ext cx="2623970"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Garet Bold"/>
                <a:ea typeface="Garet Bold"/>
                <a:cs typeface="Garet Bold"/>
                <a:sym typeface="Garet Bold"/>
                <a:rtl val="true"/>
              </a:rPr>
              <a:t>أنماط التصميم</a:t>
            </a:r>
          </a:p>
        </p:txBody>
      </p:sp>
      <p:sp>
        <p:nvSpPr>
          <p:cNvPr name="TextBox 19" id="19"/>
          <p:cNvSpPr txBox="true"/>
          <p:nvPr/>
        </p:nvSpPr>
        <p:spPr>
          <a:xfrm rot="0">
            <a:off x="2157683" y="1952924"/>
            <a:ext cx="6800539" cy="796085"/>
          </a:xfrm>
          <a:prstGeom prst="rect">
            <a:avLst/>
          </a:prstGeom>
        </p:spPr>
        <p:txBody>
          <a:bodyPr anchor="t" rtlCol="false" tIns="0" lIns="0" bIns="0" rIns="0">
            <a:spAutoFit/>
          </a:bodyPr>
          <a:lstStyle/>
          <a:p>
            <a:pPr algn="r" rtl="true" marL="0" indent="0" lvl="0">
              <a:lnSpc>
                <a:spcPts val="6521"/>
              </a:lnSpc>
              <a:spcBef>
                <a:spcPct val="0"/>
              </a:spcBef>
            </a:pPr>
            <a:r>
              <a:rPr lang="ar-EG" b="true" sz="4658">
                <a:solidFill>
                  <a:srgbClr val="FFFFFF"/>
                </a:solidFill>
                <a:latin typeface="Proxima Nova Bold"/>
                <a:ea typeface="Proxima Nova Bold"/>
                <a:cs typeface="Proxima Nova Bold"/>
                <a:sym typeface="Proxima Nova Bold"/>
                <a:rtl val="true"/>
              </a:rPr>
              <a:t>نبذة عامة عن</a:t>
            </a:r>
          </a:p>
        </p:txBody>
      </p:sp>
      <p:sp>
        <p:nvSpPr>
          <p:cNvPr name="TextBox 20" id="20"/>
          <p:cNvSpPr txBox="true"/>
          <p:nvPr/>
        </p:nvSpPr>
        <p:spPr>
          <a:xfrm rot="0">
            <a:off x="1551060" y="2830673"/>
            <a:ext cx="7407162" cy="796085"/>
          </a:xfrm>
          <a:prstGeom prst="rect">
            <a:avLst/>
          </a:prstGeom>
        </p:spPr>
        <p:txBody>
          <a:bodyPr anchor="t" rtlCol="false" tIns="0" lIns="0" bIns="0" rIns="0">
            <a:spAutoFit/>
          </a:bodyPr>
          <a:lstStyle/>
          <a:p>
            <a:pPr algn="r" rtl="true" marL="0" indent="0" lvl="0">
              <a:lnSpc>
                <a:spcPts val="6521"/>
              </a:lnSpc>
              <a:spcBef>
                <a:spcPct val="0"/>
              </a:spcBef>
            </a:pPr>
            <a:r>
              <a:rPr lang="en-US" b="true" sz="4658">
                <a:solidFill>
                  <a:srgbClr val="7ED957"/>
                </a:solidFill>
                <a:latin typeface="Proxima Nova Bold"/>
                <a:ea typeface="Proxima Nova Bold"/>
                <a:cs typeface="Proxima Nova Bold"/>
                <a:sym typeface="Proxima Nova Bold"/>
              </a:rPr>
              <a:t>Tactical</a:t>
            </a:r>
            <a:r>
              <a:rPr lang="en-US" b="true" sz="4658">
                <a:solidFill>
                  <a:srgbClr val="7ED957"/>
                </a:solidFill>
                <a:latin typeface="Proxima Nova Bold"/>
                <a:ea typeface="Proxima Nova Bold"/>
                <a:cs typeface="Proxima Nova Bold"/>
                <a:sym typeface="Proxima Nova Bold"/>
              </a:rPr>
              <a:t> Puzzle Engine</a:t>
            </a:r>
          </a:p>
        </p:txBody>
      </p:sp>
      <p:sp>
        <p:nvSpPr>
          <p:cNvPr name="TextBox 21" id="21"/>
          <p:cNvSpPr txBox="true"/>
          <p:nvPr/>
        </p:nvSpPr>
        <p:spPr>
          <a:xfrm rot="0">
            <a:off x="2715156" y="3769634"/>
            <a:ext cx="6243066" cy="1749461"/>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إطار عمل ل</a:t>
            </a:r>
            <a:r>
              <a:rPr lang="ar-EG" sz="1998">
                <a:solidFill>
                  <a:srgbClr val="FFFFFF"/>
                </a:solidFill>
                <a:latin typeface="Open Sans"/>
                <a:ea typeface="Open Sans"/>
                <a:cs typeface="Open Sans"/>
                <a:sym typeface="Open Sans"/>
                <a:rtl val="true"/>
              </a:rPr>
              <a:t>محرك ألعاب تكتيكية مبني بلغة </a:t>
            </a:r>
            <a:r>
              <a:rPr lang="en-US" sz="1998">
                <a:solidFill>
                  <a:srgbClr val="FFFFFF"/>
                </a:solidFill>
                <a:latin typeface="Open Sans"/>
                <a:ea typeface="Open Sans"/>
                <a:cs typeface="Open Sans"/>
                <a:sym typeface="Open Sans"/>
              </a:rPr>
              <a:t>Java</a:t>
            </a:r>
            <a:r>
              <a:rPr lang="ar-EG" sz="1998">
                <a:solidFill>
                  <a:srgbClr val="FFFFFF"/>
                </a:solidFill>
                <a:latin typeface="Open Sans"/>
                <a:ea typeface="Open Sans"/>
                <a:cs typeface="Open Sans"/>
                <a:sym typeface="Open Sans"/>
                <a:rtl val="true"/>
              </a:rPr>
              <a:t>، مصمم بحيث يمكن توسيعه وبناء ألعاب مختلفة فوقه. التطبيق الحالي عبارة عن لعبة ألغاز شبكية حيث يتحرك اللاعب على مربعات، يجمع العملات، يدفع الصناديق لحجب الأعداء، وعند جمع كل العملات يفتح الباب وينتقل للمستوى التالي.</a:t>
            </a:r>
          </a:p>
        </p:txBody>
      </p:sp>
      <p:sp>
        <p:nvSpPr>
          <p:cNvPr name="TextBox 22" id="22"/>
          <p:cNvSpPr txBox="true"/>
          <p:nvPr/>
        </p:nvSpPr>
        <p:spPr>
          <a:xfrm rot="0">
            <a:off x="2583026" y="5862064"/>
            <a:ext cx="5647551" cy="694831"/>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Garet Bold"/>
                <a:ea typeface="Garet Bold"/>
                <a:cs typeface="Garet Bold"/>
                <a:sym typeface="Garet Bold"/>
                <a:rtl val="true"/>
              </a:rPr>
              <a:t>نمط </a:t>
            </a:r>
            <a:r>
              <a:rPr lang="en-US" b="true" sz="2198">
                <a:solidFill>
                  <a:srgbClr val="FFFFFF"/>
                </a:solidFill>
                <a:latin typeface="Garet Bold"/>
                <a:ea typeface="Garet Bold"/>
                <a:cs typeface="Garet Bold"/>
                <a:sym typeface="Garet Bold"/>
              </a:rPr>
              <a:t>Prototype</a:t>
            </a:r>
            <a:r>
              <a:rPr lang="ar-EG" b="true" sz="2198">
                <a:solidFill>
                  <a:srgbClr val="FFFFFF"/>
                </a:solidFill>
                <a:latin typeface="Garet Bold"/>
                <a:ea typeface="Garet Bold"/>
                <a:cs typeface="Garet Bold"/>
                <a:sym typeface="Garet Bold"/>
                <a:rtl val="true"/>
              </a:rPr>
              <a:t> يسمح بتسج</a:t>
            </a:r>
            <a:r>
              <a:rPr lang="ar-EG" b="true" sz="2198">
                <a:solidFill>
                  <a:srgbClr val="FFFFFF"/>
                </a:solidFill>
                <a:latin typeface="Garet Bold"/>
                <a:ea typeface="Garet Bold"/>
                <a:cs typeface="Garet Bold"/>
                <a:sym typeface="Garet Bold"/>
                <a:rtl val="true"/>
              </a:rPr>
              <a:t>يل أي نوع عدو وإنتاجه بسهولة</a:t>
            </a:r>
          </a:p>
        </p:txBody>
      </p:sp>
      <p:sp>
        <p:nvSpPr>
          <p:cNvPr name="TextBox 23" id="23"/>
          <p:cNvSpPr txBox="true"/>
          <p:nvPr/>
        </p:nvSpPr>
        <p:spPr>
          <a:xfrm rot="0">
            <a:off x="2062814" y="6795020"/>
            <a:ext cx="6167764" cy="694831"/>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Garet Bold"/>
                <a:ea typeface="Garet Bold"/>
                <a:cs typeface="Garet Bold"/>
                <a:sym typeface="Garet Bold"/>
                <a:rtl val="true"/>
              </a:rPr>
              <a:t>نمط </a:t>
            </a:r>
            <a:r>
              <a:rPr lang="en-US" b="true" sz="2198">
                <a:solidFill>
                  <a:srgbClr val="FFFFFF"/>
                </a:solidFill>
                <a:latin typeface="Garet Bold"/>
                <a:ea typeface="Garet Bold"/>
                <a:cs typeface="Garet Bold"/>
                <a:sym typeface="Garet Bold"/>
              </a:rPr>
              <a:t>Composite</a:t>
            </a:r>
            <a:r>
              <a:rPr lang="ar-EG" b="true" sz="2198">
                <a:solidFill>
                  <a:srgbClr val="FFFFFF"/>
                </a:solidFill>
                <a:latin typeface="Garet Bold"/>
                <a:ea typeface="Garet Bold"/>
                <a:cs typeface="Garet Bold"/>
                <a:sym typeface="Garet Bold"/>
                <a:rtl val="true"/>
              </a:rPr>
              <a:t> </a:t>
            </a:r>
            <a:r>
              <a:rPr lang="ar-EG" b="true" sz="2198">
                <a:solidFill>
                  <a:srgbClr val="FFFFFF"/>
                </a:solidFill>
                <a:latin typeface="Garet Bold"/>
                <a:ea typeface="Garet Bold"/>
                <a:cs typeface="Garet Bold"/>
                <a:sym typeface="Garet Bold"/>
                <a:rtl val="true"/>
              </a:rPr>
              <a:t>يسمح بإضافة أي كائن للعالم دون تعديل حلقة اللعبة</a:t>
            </a:r>
          </a:p>
        </p:txBody>
      </p:sp>
      <p:sp>
        <p:nvSpPr>
          <p:cNvPr name="TextBox 24" id="24"/>
          <p:cNvSpPr txBox="true"/>
          <p:nvPr/>
        </p:nvSpPr>
        <p:spPr>
          <a:xfrm rot="0">
            <a:off x="2157683" y="7729117"/>
            <a:ext cx="6072894" cy="694831"/>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Garet Bold"/>
                <a:ea typeface="Garet Bold"/>
                <a:cs typeface="Garet Bold"/>
                <a:sym typeface="Garet Bold"/>
                <a:rtl val="true"/>
              </a:rPr>
              <a:t>نمط</a:t>
            </a:r>
            <a:r>
              <a:rPr lang="ar-EG" b="true" sz="2198">
                <a:solidFill>
                  <a:srgbClr val="FFFFFF"/>
                </a:solidFill>
                <a:latin typeface="Garet Bold"/>
                <a:ea typeface="Garet Bold"/>
                <a:cs typeface="Garet Bold"/>
                <a:sym typeface="Garet Bold"/>
                <a:rtl val="true"/>
              </a:rPr>
              <a:t> </a:t>
            </a:r>
            <a:r>
              <a:rPr lang="en-US" b="true" sz="2198">
                <a:solidFill>
                  <a:srgbClr val="FFFFFF"/>
                </a:solidFill>
                <a:latin typeface="Garet Bold"/>
                <a:ea typeface="Garet Bold"/>
                <a:cs typeface="Garet Bold"/>
                <a:sym typeface="Garet Bold"/>
              </a:rPr>
              <a:t>Observer</a:t>
            </a:r>
            <a:r>
              <a:rPr lang="ar-EG" b="true" sz="2198">
                <a:solidFill>
                  <a:srgbClr val="FFFFFF"/>
                </a:solidFill>
                <a:latin typeface="Garet Bold"/>
                <a:ea typeface="Garet Bold"/>
                <a:cs typeface="Garet Bold"/>
                <a:sym typeface="Garet Bold"/>
                <a:rtl val="true"/>
              </a:rPr>
              <a:t> يسمح لأي حدث بتشغيل أي رد فعل بشكل مستقل</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sp>
        <p:nvSpPr>
          <p:cNvPr name="AutoShape 2" id="2"/>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3" id="3"/>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082153" y="833522"/>
            <a:ext cx="354294" cy="390407"/>
          </a:xfrm>
          <a:custGeom>
            <a:avLst/>
            <a:gdLst/>
            <a:ahLst/>
            <a:cxnLst/>
            <a:rect r="r" b="b" t="t" l="l"/>
            <a:pathLst>
              <a:path h="390407" w="354294">
                <a:moveTo>
                  <a:pt x="354294" y="0"/>
                </a:moveTo>
                <a:lnTo>
                  <a:pt x="0" y="0"/>
                </a:lnTo>
                <a:lnTo>
                  <a:pt x="0" y="390406"/>
                </a:lnTo>
                <a:lnTo>
                  <a:pt x="354294" y="390406"/>
                </a:lnTo>
                <a:lnTo>
                  <a:pt x="3542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16197258" y="2178835"/>
            <a:ext cx="388512" cy="273414"/>
          </a:xfrm>
          <a:custGeom>
            <a:avLst/>
            <a:gdLst/>
            <a:ahLst/>
            <a:cxnLst/>
            <a:rect r="r" b="b" t="t" l="l"/>
            <a:pathLst>
              <a:path h="273414" w="388512">
                <a:moveTo>
                  <a:pt x="388512" y="0"/>
                </a:moveTo>
                <a:lnTo>
                  <a:pt x="0" y="0"/>
                </a:lnTo>
                <a:lnTo>
                  <a:pt x="0" y="273415"/>
                </a:lnTo>
                <a:lnTo>
                  <a:pt x="388512" y="273415"/>
                </a:lnTo>
                <a:lnTo>
                  <a:pt x="38851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0">
            <a:off x="16197258" y="4430129"/>
            <a:ext cx="388512" cy="273414"/>
          </a:xfrm>
          <a:custGeom>
            <a:avLst/>
            <a:gdLst/>
            <a:ahLst/>
            <a:cxnLst/>
            <a:rect r="r" b="b" t="t" l="l"/>
            <a:pathLst>
              <a:path h="273414" w="388512">
                <a:moveTo>
                  <a:pt x="388512" y="0"/>
                </a:moveTo>
                <a:lnTo>
                  <a:pt x="0" y="0"/>
                </a:lnTo>
                <a:lnTo>
                  <a:pt x="0" y="273414"/>
                </a:lnTo>
                <a:lnTo>
                  <a:pt x="388512" y="273414"/>
                </a:lnTo>
                <a:lnTo>
                  <a:pt x="38851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0">
            <a:off x="16197258" y="6745165"/>
            <a:ext cx="388512" cy="273414"/>
          </a:xfrm>
          <a:custGeom>
            <a:avLst/>
            <a:gdLst/>
            <a:ahLst/>
            <a:cxnLst/>
            <a:rect r="r" b="b" t="t" l="l"/>
            <a:pathLst>
              <a:path h="273414" w="388512">
                <a:moveTo>
                  <a:pt x="388512" y="0"/>
                </a:moveTo>
                <a:lnTo>
                  <a:pt x="0" y="0"/>
                </a:lnTo>
                <a:lnTo>
                  <a:pt x="0" y="273414"/>
                </a:lnTo>
                <a:lnTo>
                  <a:pt x="388512" y="273414"/>
                </a:lnTo>
                <a:lnTo>
                  <a:pt x="388512"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770136" y="833522"/>
            <a:ext cx="6761209" cy="4654596"/>
            <a:chOff x="0" y="0"/>
            <a:chExt cx="2398030" cy="1650868"/>
          </a:xfrm>
        </p:grpSpPr>
        <p:sp>
          <p:nvSpPr>
            <p:cNvPr name="Freeform 10" id="10"/>
            <p:cNvSpPr/>
            <p:nvPr/>
          </p:nvSpPr>
          <p:spPr>
            <a:xfrm flipH="false" flipV="false" rot="0">
              <a:off x="0" y="0"/>
              <a:ext cx="2398030" cy="1650868"/>
            </a:xfrm>
            <a:custGeom>
              <a:avLst/>
              <a:gdLst/>
              <a:ahLst/>
              <a:cxnLst/>
              <a:rect r="r" b="b" t="t" l="l"/>
              <a:pathLst>
                <a:path h="1650868" w="2398030">
                  <a:moveTo>
                    <a:pt x="2363679" y="0"/>
                  </a:moveTo>
                  <a:lnTo>
                    <a:pt x="34351" y="0"/>
                  </a:lnTo>
                  <a:cubicBezTo>
                    <a:pt x="25241" y="0"/>
                    <a:pt x="16503" y="3619"/>
                    <a:pt x="10061" y="10061"/>
                  </a:cubicBezTo>
                  <a:cubicBezTo>
                    <a:pt x="3619" y="16503"/>
                    <a:pt x="0" y="25241"/>
                    <a:pt x="0" y="34351"/>
                  </a:cubicBezTo>
                  <a:lnTo>
                    <a:pt x="0" y="1616516"/>
                  </a:lnTo>
                  <a:cubicBezTo>
                    <a:pt x="0" y="1625627"/>
                    <a:pt x="3619" y="1634364"/>
                    <a:pt x="10061" y="1640806"/>
                  </a:cubicBezTo>
                  <a:cubicBezTo>
                    <a:pt x="16503" y="1647248"/>
                    <a:pt x="25241" y="1650868"/>
                    <a:pt x="34351" y="1650868"/>
                  </a:cubicBezTo>
                  <a:lnTo>
                    <a:pt x="2363679" y="1650868"/>
                  </a:lnTo>
                  <a:cubicBezTo>
                    <a:pt x="2382650" y="1650868"/>
                    <a:pt x="2398030" y="1635488"/>
                    <a:pt x="2398030" y="1616516"/>
                  </a:cubicBezTo>
                  <a:lnTo>
                    <a:pt x="2398030" y="34351"/>
                  </a:lnTo>
                  <a:cubicBezTo>
                    <a:pt x="2398030" y="25241"/>
                    <a:pt x="2394411" y="16503"/>
                    <a:pt x="2387969" y="10061"/>
                  </a:cubicBezTo>
                  <a:cubicBezTo>
                    <a:pt x="2381527" y="3619"/>
                    <a:pt x="2372789" y="0"/>
                    <a:pt x="2363679" y="0"/>
                  </a:cubicBezTo>
                  <a:close/>
                </a:path>
              </a:pathLst>
            </a:custGeom>
            <a:blipFill>
              <a:blip r:embed="rId10"/>
              <a:stretch>
                <a:fillRect l="0" t="-22629" r="0" b="-22629"/>
              </a:stretch>
            </a:blipFill>
            <a:ln w="95250" cap="rnd">
              <a:solidFill>
                <a:srgbClr val="FFFFFF"/>
              </a:solidFill>
              <a:prstDash val="solid"/>
              <a:round/>
            </a:ln>
          </p:spPr>
        </p:sp>
      </p:grpSp>
      <p:sp>
        <p:nvSpPr>
          <p:cNvPr name="Freeform 11" id="11"/>
          <p:cNvSpPr/>
          <p:nvPr/>
        </p:nvSpPr>
        <p:spPr>
          <a:xfrm flipH="true" flipV="false" rot="5400000">
            <a:off x="461731" y="2478156"/>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true" flipV="false" rot="5400000">
            <a:off x="17721031" y="6952897"/>
            <a:ext cx="1133938" cy="599570"/>
          </a:xfrm>
          <a:custGeom>
            <a:avLst/>
            <a:gdLst/>
            <a:ahLst/>
            <a:cxnLst/>
            <a:rect r="r" b="b" t="t" l="l"/>
            <a:pathLst>
              <a:path h="599570" w="1133938">
                <a:moveTo>
                  <a:pt x="1133938" y="0"/>
                </a:moveTo>
                <a:lnTo>
                  <a:pt x="0" y="0"/>
                </a:lnTo>
                <a:lnTo>
                  <a:pt x="0" y="599569"/>
                </a:lnTo>
                <a:lnTo>
                  <a:pt x="1133938" y="599569"/>
                </a:lnTo>
                <a:lnTo>
                  <a:pt x="113393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14309741" y="834605"/>
            <a:ext cx="2623970"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Garet Bold"/>
                <a:ea typeface="Garet Bold"/>
                <a:cs typeface="Garet Bold"/>
                <a:sym typeface="Garet Bold"/>
                <a:rtl val="true"/>
              </a:rPr>
              <a:t>أنماط التصميم</a:t>
            </a:r>
          </a:p>
        </p:txBody>
      </p:sp>
      <p:sp>
        <p:nvSpPr>
          <p:cNvPr name="TextBox 14" id="14"/>
          <p:cNvSpPr txBox="true"/>
          <p:nvPr/>
        </p:nvSpPr>
        <p:spPr>
          <a:xfrm rot="0">
            <a:off x="10174604" y="2109858"/>
            <a:ext cx="5615323"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Proxima Nova Bold"/>
                <a:ea typeface="Proxima Nova Bold"/>
                <a:cs typeface="Proxima Nova Bold"/>
                <a:sym typeface="Proxima Nova Bold"/>
                <a:rtl val="true"/>
              </a:rPr>
              <a:t>إنشاء أعداء متعددين متشابهين</a:t>
            </a:r>
          </a:p>
        </p:txBody>
      </p:sp>
      <p:sp>
        <p:nvSpPr>
          <p:cNvPr name="TextBox 15" id="15"/>
          <p:cNvSpPr txBox="true"/>
          <p:nvPr/>
        </p:nvSpPr>
        <p:spPr>
          <a:xfrm rot="0">
            <a:off x="8940919" y="4361151"/>
            <a:ext cx="6849008"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Proxima Nova Bold"/>
                <a:ea typeface="Proxima Nova Bold"/>
                <a:cs typeface="Proxima Nova Bold"/>
                <a:sym typeface="Proxima Nova Bold"/>
                <a:rtl val="true"/>
              </a:rPr>
              <a:t>فصل بناء الكائن عن إعداده</a:t>
            </a:r>
          </a:p>
        </p:txBody>
      </p:sp>
      <p:sp>
        <p:nvSpPr>
          <p:cNvPr name="TextBox 16" id="16"/>
          <p:cNvSpPr txBox="true"/>
          <p:nvPr/>
        </p:nvSpPr>
        <p:spPr>
          <a:xfrm rot="0">
            <a:off x="9433729" y="6676187"/>
            <a:ext cx="6356198"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Proxima Nova Bold"/>
                <a:ea typeface="Proxima Nova Bold"/>
                <a:cs typeface="Proxima Nova Bold"/>
                <a:sym typeface="Proxima Nova Bold"/>
                <a:rtl val="true"/>
              </a:rPr>
              <a:t>ضمان الاتساق وسهولة التوسع</a:t>
            </a:r>
          </a:p>
        </p:txBody>
      </p:sp>
      <p:sp>
        <p:nvSpPr>
          <p:cNvPr name="TextBox 17" id="17"/>
          <p:cNvSpPr txBox="true"/>
          <p:nvPr/>
        </p:nvSpPr>
        <p:spPr>
          <a:xfrm rot="0">
            <a:off x="9546861" y="2739841"/>
            <a:ext cx="6243066" cy="692186"/>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الحاجة لإنشاء أعداء متعددين متشابهين دون بناء كل منهم من الصفر، مما يوفر الوقت والجهد في التطوير</a:t>
            </a:r>
          </a:p>
        </p:txBody>
      </p:sp>
      <p:sp>
        <p:nvSpPr>
          <p:cNvPr name="TextBox 18" id="18"/>
          <p:cNvSpPr txBox="true"/>
          <p:nvPr/>
        </p:nvSpPr>
        <p:spPr>
          <a:xfrm rot="0">
            <a:off x="9546861" y="4991135"/>
            <a:ext cx="6243066" cy="692186"/>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الاستنساخ يفصل عملية بناء الكائن عن إعداده، فالقالب يحتوي على كل الخصائص مسبقاً وجاهزة للنسخ</a:t>
            </a:r>
          </a:p>
        </p:txBody>
      </p:sp>
      <p:sp>
        <p:nvSpPr>
          <p:cNvPr name="TextBox 19" id="19"/>
          <p:cNvSpPr txBox="true"/>
          <p:nvPr/>
        </p:nvSpPr>
        <p:spPr>
          <a:xfrm rot="0">
            <a:off x="9546861" y="7306171"/>
            <a:ext cx="6243066" cy="692186"/>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إضافة أنواع جديدة من الأعداء دون تعديل منطق الإنتاج، مع الحفاظ على اتساق الكائنات المستنسخة</a:t>
            </a:r>
          </a:p>
        </p:txBody>
      </p:sp>
      <p:sp>
        <p:nvSpPr>
          <p:cNvPr name="TextBox 20" id="20"/>
          <p:cNvSpPr txBox="true"/>
          <p:nvPr/>
        </p:nvSpPr>
        <p:spPr>
          <a:xfrm rot="0">
            <a:off x="2062814" y="5296958"/>
            <a:ext cx="6439955" cy="910822"/>
          </a:xfrm>
          <a:prstGeom prst="rect">
            <a:avLst/>
          </a:prstGeom>
        </p:spPr>
        <p:txBody>
          <a:bodyPr anchor="t" rtlCol="false" tIns="0" lIns="0" bIns="0" rIns="0">
            <a:spAutoFit/>
          </a:bodyPr>
          <a:lstStyle/>
          <a:p>
            <a:pPr algn="r" rtl="true" marL="0" indent="0" lvl="0">
              <a:lnSpc>
                <a:spcPts val="7547"/>
              </a:lnSpc>
              <a:spcBef>
                <a:spcPct val="0"/>
              </a:spcBef>
            </a:pPr>
            <a:r>
              <a:rPr lang="ar-EG" b="true" sz="5390">
                <a:solidFill>
                  <a:srgbClr val="FFFFFF"/>
                </a:solidFill>
                <a:latin typeface="Proxima Nova Bold"/>
                <a:ea typeface="Proxima Nova Bold"/>
                <a:cs typeface="Proxima Nova Bold"/>
                <a:sym typeface="Proxima Nova Bold"/>
                <a:rtl val="true"/>
              </a:rPr>
              <a:t>نمط </a:t>
            </a:r>
            <a:r>
              <a:rPr lang="en-US" b="true" sz="5390">
                <a:solidFill>
                  <a:srgbClr val="FFFFFF"/>
                </a:solidFill>
                <a:latin typeface="Proxima Nova Bold"/>
                <a:ea typeface="Proxima Nova Bold"/>
                <a:cs typeface="Proxima Nova Bold"/>
                <a:sym typeface="Proxima Nova Bold"/>
              </a:rPr>
              <a:t>Prototype</a:t>
            </a:r>
          </a:p>
        </p:txBody>
      </p:sp>
      <p:sp>
        <p:nvSpPr>
          <p:cNvPr name="TextBox 21" id="21"/>
          <p:cNvSpPr txBox="true"/>
          <p:nvPr/>
        </p:nvSpPr>
        <p:spPr>
          <a:xfrm rot="0">
            <a:off x="2142732" y="6174708"/>
            <a:ext cx="6360037" cy="910822"/>
          </a:xfrm>
          <a:prstGeom prst="rect">
            <a:avLst/>
          </a:prstGeom>
        </p:spPr>
        <p:txBody>
          <a:bodyPr anchor="t" rtlCol="false" tIns="0" lIns="0" bIns="0" rIns="0">
            <a:spAutoFit/>
          </a:bodyPr>
          <a:lstStyle/>
          <a:p>
            <a:pPr algn="r" rtl="true" marL="0" indent="0" lvl="0">
              <a:lnSpc>
                <a:spcPts val="7547"/>
              </a:lnSpc>
              <a:spcBef>
                <a:spcPct val="0"/>
              </a:spcBef>
            </a:pPr>
            <a:r>
              <a:rPr lang="ar-EG" b="true" sz="5390">
                <a:solidFill>
                  <a:srgbClr val="7ED957"/>
                </a:solidFill>
                <a:latin typeface="Proxima Nova Bold"/>
                <a:ea typeface="Proxima Nova Bold"/>
                <a:cs typeface="Proxima Nova Bold"/>
                <a:sym typeface="Proxima Nova Bold"/>
                <a:rtl val="true"/>
              </a:rPr>
              <a:t>لماذا استخدمناه؟</a:t>
            </a:r>
          </a:p>
        </p:txBody>
      </p:sp>
      <p:sp>
        <p:nvSpPr>
          <p:cNvPr name="TextBox 22" id="22"/>
          <p:cNvSpPr txBox="true"/>
          <p:nvPr/>
        </p:nvSpPr>
        <p:spPr>
          <a:xfrm rot="0">
            <a:off x="2259703" y="7306171"/>
            <a:ext cx="6243066" cy="692186"/>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يتيح نمط </a:t>
            </a:r>
            <a:r>
              <a:rPr lang="en-US" sz="1998">
                <a:solidFill>
                  <a:srgbClr val="FFFFFF"/>
                </a:solidFill>
                <a:latin typeface="Open Sans"/>
                <a:ea typeface="Open Sans"/>
                <a:cs typeface="Open Sans"/>
                <a:sym typeface="Open Sans"/>
              </a:rPr>
              <a:t>Prototype</a:t>
            </a:r>
            <a:r>
              <a:rPr lang="ar-EG" sz="1998">
                <a:solidFill>
                  <a:srgbClr val="FFFFFF"/>
                </a:solidFill>
                <a:latin typeface="Open Sans"/>
                <a:ea typeface="Open Sans"/>
                <a:cs typeface="Open Sans"/>
                <a:sym typeface="Open Sans"/>
                <a:rtl val="true"/>
              </a:rPr>
              <a:t> إنشاء نسخ من كائنات موجودة بدلاً من بنائها من جديد، مما يدعم مبدأ </a:t>
            </a:r>
            <a:r>
              <a:rPr lang="en-US" sz="1998">
                <a:solidFill>
                  <a:srgbClr val="FFFFFF"/>
                </a:solidFill>
                <a:latin typeface="Open Sans"/>
                <a:ea typeface="Open Sans"/>
                <a:cs typeface="Open Sans"/>
                <a:sym typeface="Open Sans"/>
              </a:rPr>
              <a:t>Open/Closed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sp>
        <p:nvSpPr>
          <p:cNvPr name="AutoShape 2" id="2"/>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3" id="3"/>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082153" y="833522"/>
            <a:ext cx="354294" cy="390407"/>
          </a:xfrm>
          <a:custGeom>
            <a:avLst/>
            <a:gdLst/>
            <a:ahLst/>
            <a:cxnLst/>
            <a:rect r="r" b="b" t="t" l="l"/>
            <a:pathLst>
              <a:path h="390407" w="354294">
                <a:moveTo>
                  <a:pt x="354294" y="0"/>
                </a:moveTo>
                <a:lnTo>
                  <a:pt x="0" y="0"/>
                </a:lnTo>
                <a:lnTo>
                  <a:pt x="0" y="390406"/>
                </a:lnTo>
                <a:lnTo>
                  <a:pt x="354294" y="390406"/>
                </a:lnTo>
                <a:lnTo>
                  <a:pt x="3542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450507" y="1859815"/>
            <a:ext cx="4783942" cy="6398987"/>
            <a:chOff x="0" y="0"/>
            <a:chExt cx="826135" cy="1105036"/>
          </a:xfrm>
        </p:grpSpPr>
        <p:sp>
          <p:nvSpPr>
            <p:cNvPr name="Freeform 7" id="7"/>
            <p:cNvSpPr/>
            <p:nvPr/>
          </p:nvSpPr>
          <p:spPr>
            <a:xfrm flipH="false" flipV="false" rot="0">
              <a:off x="0" y="0"/>
              <a:ext cx="826135" cy="1105036"/>
            </a:xfrm>
            <a:custGeom>
              <a:avLst/>
              <a:gdLst/>
              <a:ahLst/>
              <a:cxnLst/>
              <a:rect r="r" b="b" t="t" l="l"/>
              <a:pathLst>
                <a:path h="1105036" w="826135">
                  <a:moveTo>
                    <a:pt x="777586" y="0"/>
                  </a:moveTo>
                  <a:lnTo>
                    <a:pt x="48549" y="0"/>
                  </a:lnTo>
                  <a:cubicBezTo>
                    <a:pt x="35673" y="0"/>
                    <a:pt x="23325" y="5115"/>
                    <a:pt x="14220" y="14220"/>
                  </a:cubicBezTo>
                  <a:cubicBezTo>
                    <a:pt x="5115" y="23325"/>
                    <a:pt x="0" y="35673"/>
                    <a:pt x="0" y="48549"/>
                  </a:cubicBezTo>
                  <a:lnTo>
                    <a:pt x="0" y="1056487"/>
                  </a:lnTo>
                  <a:cubicBezTo>
                    <a:pt x="0" y="1069363"/>
                    <a:pt x="5115" y="1081712"/>
                    <a:pt x="14220" y="1090817"/>
                  </a:cubicBezTo>
                  <a:cubicBezTo>
                    <a:pt x="23325" y="1099921"/>
                    <a:pt x="35673" y="1105036"/>
                    <a:pt x="48549" y="1105036"/>
                  </a:cubicBezTo>
                  <a:lnTo>
                    <a:pt x="777586" y="1105036"/>
                  </a:lnTo>
                  <a:cubicBezTo>
                    <a:pt x="790462" y="1105036"/>
                    <a:pt x="802811" y="1099921"/>
                    <a:pt x="811916" y="1090817"/>
                  </a:cubicBezTo>
                  <a:cubicBezTo>
                    <a:pt x="821020" y="1081712"/>
                    <a:pt x="826135" y="1069363"/>
                    <a:pt x="826135" y="1056487"/>
                  </a:cubicBezTo>
                  <a:lnTo>
                    <a:pt x="826135" y="48549"/>
                  </a:lnTo>
                  <a:cubicBezTo>
                    <a:pt x="826135" y="35673"/>
                    <a:pt x="821020" y="23325"/>
                    <a:pt x="811916" y="14220"/>
                  </a:cubicBezTo>
                  <a:cubicBezTo>
                    <a:pt x="802811" y="5115"/>
                    <a:pt x="790462" y="0"/>
                    <a:pt x="777586" y="0"/>
                  </a:cubicBezTo>
                  <a:close/>
                </a:path>
              </a:pathLst>
            </a:custGeom>
            <a:blipFill>
              <a:blip r:embed="rId8"/>
              <a:stretch>
                <a:fillRect l="-159" t="0" r="-159" b="0"/>
              </a:stretch>
            </a:blipFill>
            <a:ln w="95250" cap="rnd">
              <a:solidFill>
                <a:srgbClr val="7ED957"/>
              </a:solidFill>
              <a:prstDash val="solid"/>
              <a:round/>
            </a:ln>
          </p:spPr>
        </p:sp>
      </p:grpSp>
      <p:sp>
        <p:nvSpPr>
          <p:cNvPr name="Freeform 8" id="8"/>
          <p:cNvSpPr/>
          <p:nvPr/>
        </p:nvSpPr>
        <p:spPr>
          <a:xfrm flipH="true" flipV="false" rot="5400000">
            <a:off x="17574860" y="4868792"/>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true" flipV="false" rot="0">
            <a:off x="-566969" y="6952542"/>
            <a:ext cx="1133938" cy="599570"/>
          </a:xfrm>
          <a:custGeom>
            <a:avLst/>
            <a:gdLst/>
            <a:ahLst/>
            <a:cxnLst/>
            <a:rect r="r" b="b" t="t" l="l"/>
            <a:pathLst>
              <a:path h="599570" w="1133938">
                <a:moveTo>
                  <a:pt x="1133938" y="0"/>
                </a:moveTo>
                <a:lnTo>
                  <a:pt x="0" y="0"/>
                </a:lnTo>
                <a:lnTo>
                  <a:pt x="0" y="599569"/>
                </a:lnTo>
                <a:lnTo>
                  <a:pt x="1133938" y="599569"/>
                </a:lnTo>
                <a:lnTo>
                  <a:pt x="1133938"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6397392" y="4881552"/>
            <a:ext cx="499154" cy="473265"/>
          </a:xfrm>
          <a:custGeom>
            <a:avLst/>
            <a:gdLst/>
            <a:ahLst/>
            <a:cxnLst/>
            <a:rect r="r" b="b" t="t" l="l"/>
            <a:pathLst>
              <a:path h="473265" w="499154">
                <a:moveTo>
                  <a:pt x="0" y="0"/>
                </a:moveTo>
                <a:lnTo>
                  <a:pt x="499154" y="0"/>
                </a:lnTo>
                <a:lnTo>
                  <a:pt x="499154" y="473264"/>
                </a:lnTo>
                <a:lnTo>
                  <a:pt x="0" y="473264"/>
                </a:lnTo>
                <a:lnTo>
                  <a:pt x="0" y="0"/>
                </a:lnTo>
                <a:close/>
              </a:path>
            </a:pathLst>
          </a:custGeom>
          <a:blipFill>
            <a:blip r:embed="rId11"/>
            <a:stretch>
              <a:fillRect l="0" t="0" r="0" b="0"/>
            </a:stretch>
          </a:blipFill>
        </p:spPr>
      </p:sp>
      <p:sp>
        <p:nvSpPr>
          <p:cNvPr name="Freeform 11" id="11"/>
          <p:cNvSpPr/>
          <p:nvPr/>
        </p:nvSpPr>
        <p:spPr>
          <a:xfrm flipH="false" flipV="false" rot="0">
            <a:off x="16260489" y="7164397"/>
            <a:ext cx="819842" cy="656198"/>
          </a:xfrm>
          <a:custGeom>
            <a:avLst/>
            <a:gdLst/>
            <a:ahLst/>
            <a:cxnLst/>
            <a:rect r="r" b="b" t="t" l="l"/>
            <a:pathLst>
              <a:path h="656198" w="819842">
                <a:moveTo>
                  <a:pt x="0" y="0"/>
                </a:moveTo>
                <a:lnTo>
                  <a:pt x="819842" y="0"/>
                </a:lnTo>
                <a:lnTo>
                  <a:pt x="819842" y="656197"/>
                </a:lnTo>
                <a:lnTo>
                  <a:pt x="0" y="656197"/>
                </a:lnTo>
                <a:lnTo>
                  <a:pt x="0" y="0"/>
                </a:lnTo>
                <a:close/>
              </a:path>
            </a:pathLst>
          </a:custGeom>
          <a:blipFill>
            <a:blip r:embed="rId12"/>
            <a:stretch>
              <a:fillRect l="0" t="0" r="0" b="0"/>
            </a:stretch>
          </a:blipFill>
        </p:spPr>
      </p:sp>
      <p:sp>
        <p:nvSpPr>
          <p:cNvPr name="Freeform 12" id="12"/>
          <p:cNvSpPr/>
          <p:nvPr/>
        </p:nvSpPr>
        <p:spPr>
          <a:xfrm flipH="false" flipV="false" rot="0">
            <a:off x="10676885" y="4876221"/>
            <a:ext cx="766538" cy="641976"/>
          </a:xfrm>
          <a:custGeom>
            <a:avLst/>
            <a:gdLst/>
            <a:ahLst/>
            <a:cxnLst/>
            <a:rect r="r" b="b" t="t" l="l"/>
            <a:pathLst>
              <a:path h="641976" w="766538">
                <a:moveTo>
                  <a:pt x="0" y="0"/>
                </a:moveTo>
                <a:lnTo>
                  <a:pt x="766538" y="0"/>
                </a:lnTo>
                <a:lnTo>
                  <a:pt x="766538" y="641975"/>
                </a:lnTo>
                <a:lnTo>
                  <a:pt x="0" y="641975"/>
                </a:lnTo>
                <a:lnTo>
                  <a:pt x="0" y="0"/>
                </a:lnTo>
                <a:close/>
              </a:path>
            </a:pathLst>
          </a:custGeom>
          <a:blipFill>
            <a:blip r:embed="rId13"/>
            <a:stretch>
              <a:fillRect l="0" t="0" r="0" b="0"/>
            </a:stretch>
          </a:blipFill>
        </p:spPr>
      </p:sp>
      <p:sp>
        <p:nvSpPr>
          <p:cNvPr name="Freeform 13" id="13"/>
          <p:cNvSpPr/>
          <p:nvPr/>
        </p:nvSpPr>
        <p:spPr>
          <a:xfrm flipH="false" flipV="false" rot="0">
            <a:off x="10630792" y="7238210"/>
            <a:ext cx="950961" cy="774696"/>
          </a:xfrm>
          <a:custGeom>
            <a:avLst/>
            <a:gdLst/>
            <a:ahLst/>
            <a:cxnLst/>
            <a:rect r="r" b="b" t="t" l="l"/>
            <a:pathLst>
              <a:path h="774696" w="950961">
                <a:moveTo>
                  <a:pt x="0" y="0"/>
                </a:moveTo>
                <a:lnTo>
                  <a:pt x="950961" y="0"/>
                </a:lnTo>
                <a:lnTo>
                  <a:pt x="950961" y="774696"/>
                </a:lnTo>
                <a:lnTo>
                  <a:pt x="0" y="774696"/>
                </a:lnTo>
                <a:lnTo>
                  <a:pt x="0" y="0"/>
                </a:lnTo>
                <a:close/>
              </a:path>
            </a:pathLst>
          </a:custGeom>
          <a:blipFill>
            <a:blip r:embed="rId14"/>
            <a:stretch>
              <a:fillRect l="0" t="0" r="0" b="0"/>
            </a:stretch>
          </a:blipFill>
        </p:spPr>
      </p:sp>
      <p:sp>
        <p:nvSpPr>
          <p:cNvPr name="TextBox 14" id="14"/>
          <p:cNvSpPr txBox="true"/>
          <p:nvPr/>
        </p:nvSpPr>
        <p:spPr>
          <a:xfrm rot="0">
            <a:off x="14309741" y="834605"/>
            <a:ext cx="2623970"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Garet Bold"/>
                <a:ea typeface="Garet Bold"/>
                <a:cs typeface="Garet Bold"/>
                <a:sym typeface="Garet Bold"/>
                <a:rtl val="true"/>
              </a:rPr>
              <a:t>أنماط التصميم</a:t>
            </a:r>
          </a:p>
        </p:txBody>
      </p:sp>
      <p:sp>
        <p:nvSpPr>
          <p:cNvPr name="TextBox 15" id="15"/>
          <p:cNvSpPr txBox="true"/>
          <p:nvPr/>
        </p:nvSpPr>
        <p:spPr>
          <a:xfrm rot="0">
            <a:off x="12478720" y="4259216"/>
            <a:ext cx="3312542" cy="342406"/>
          </a:xfrm>
          <a:prstGeom prst="rect">
            <a:avLst/>
          </a:prstGeom>
        </p:spPr>
        <p:txBody>
          <a:bodyPr anchor="t" rtlCol="false" tIns="0" lIns="0" bIns="0" rIns="0">
            <a:spAutoFit/>
          </a:bodyPr>
          <a:lstStyle/>
          <a:p>
            <a:pPr algn="r" rtl="true" marL="0" indent="0" lvl="0">
              <a:lnSpc>
                <a:spcPts val="2792"/>
              </a:lnSpc>
            </a:pPr>
            <a:r>
              <a:rPr lang="en-US" b="true" sz="2198">
                <a:solidFill>
                  <a:srgbClr val="FFFFFF"/>
                </a:solidFill>
                <a:latin typeface="Proxima Nova Bold"/>
                <a:ea typeface="Proxima Nova Bold"/>
                <a:cs typeface="Proxima Nova Bold"/>
                <a:sym typeface="Proxima Nova Bold"/>
              </a:rPr>
              <a:t>EnemyPrototype</a:t>
            </a:r>
          </a:p>
        </p:txBody>
      </p:sp>
      <p:sp>
        <p:nvSpPr>
          <p:cNvPr name="TextBox 16" id="16"/>
          <p:cNvSpPr txBox="true"/>
          <p:nvPr/>
        </p:nvSpPr>
        <p:spPr>
          <a:xfrm rot="0">
            <a:off x="12600624" y="6609157"/>
            <a:ext cx="3190639" cy="342406"/>
          </a:xfrm>
          <a:prstGeom prst="rect">
            <a:avLst/>
          </a:prstGeom>
        </p:spPr>
        <p:txBody>
          <a:bodyPr anchor="t" rtlCol="false" tIns="0" lIns="0" bIns="0" rIns="0">
            <a:spAutoFit/>
          </a:bodyPr>
          <a:lstStyle/>
          <a:p>
            <a:pPr algn="r" rtl="true" marL="0" indent="0" lvl="0">
              <a:lnSpc>
                <a:spcPts val="2792"/>
              </a:lnSpc>
            </a:pPr>
            <a:r>
              <a:rPr lang="en-US" b="true" sz="2198">
                <a:solidFill>
                  <a:srgbClr val="7ED957"/>
                </a:solidFill>
                <a:latin typeface="Proxima Nova Bold"/>
                <a:ea typeface="Proxima Nova Bold"/>
                <a:cs typeface="Proxima Nova Bold"/>
                <a:sym typeface="Proxima Nova Bold"/>
              </a:rPr>
              <a:t>EnemySpawner</a:t>
            </a:r>
          </a:p>
        </p:txBody>
      </p:sp>
      <p:sp>
        <p:nvSpPr>
          <p:cNvPr name="TextBox 17" id="17"/>
          <p:cNvSpPr txBox="true"/>
          <p:nvPr/>
        </p:nvSpPr>
        <p:spPr>
          <a:xfrm rot="0">
            <a:off x="7190043" y="4259216"/>
            <a:ext cx="3190639" cy="342406"/>
          </a:xfrm>
          <a:prstGeom prst="rect">
            <a:avLst/>
          </a:prstGeom>
        </p:spPr>
        <p:txBody>
          <a:bodyPr anchor="t" rtlCol="false" tIns="0" lIns="0" bIns="0" rIns="0">
            <a:spAutoFit/>
          </a:bodyPr>
          <a:lstStyle/>
          <a:p>
            <a:pPr algn="r" rtl="true" marL="0" indent="0" lvl="0">
              <a:lnSpc>
                <a:spcPts val="2792"/>
              </a:lnSpc>
            </a:pPr>
            <a:r>
              <a:rPr lang="en-US" b="true" sz="2198">
                <a:solidFill>
                  <a:srgbClr val="FFFFFF"/>
                </a:solidFill>
                <a:latin typeface="Proxima Nova Bold"/>
                <a:ea typeface="Proxima Nova Bold"/>
                <a:cs typeface="Proxima Nova Bold"/>
                <a:sym typeface="Proxima Nova Bold"/>
              </a:rPr>
              <a:t>Enemy</a:t>
            </a:r>
          </a:p>
        </p:txBody>
      </p:sp>
      <p:sp>
        <p:nvSpPr>
          <p:cNvPr name="TextBox 18" id="18"/>
          <p:cNvSpPr txBox="true"/>
          <p:nvPr/>
        </p:nvSpPr>
        <p:spPr>
          <a:xfrm rot="0">
            <a:off x="7190043" y="6609157"/>
            <a:ext cx="3190639" cy="342406"/>
          </a:xfrm>
          <a:prstGeom prst="rect">
            <a:avLst/>
          </a:prstGeom>
        </p:spPr>
        <p:txBody>
          <a:bodyPr anchor="t" rtlCol="false" tIns="0" lIns="0" bIns="0" rIns="0">
            <a:spAutoFit/>
          </a:bodyPr>
          <a:lstStyle/>
          <a:p>
            <a:pPr algn="r" rtl="true" marL="0" indent="0" lvl="0">
              <a:lnSpc>
                <a:spcPts val="2792"/>
              </a:lnSpc>
            </a:pPr>
            <a:r>
              <a:rPr lang="en-US" b="true" sz="2198">
                <a:solidFill>
                  <a:srgbClr val="7ED957"/>
                </a:solidFill>
                <a:latin typeface="Proxima Nova Bold"/>
                <a:ea typeface="Proxima Nova Bold"/>
                <a:cs typeface="Proxima Nova Bold"/>
                <a:sym typeface="Proxima Nova Bold"/>
              </a:rPr>
              <a:t>LevelLoader</a:t>
            </a:r>
          </a:p>
        </p:txBody>
      </p:sp>
      <p:sp>
        <p:nvSpPr>
          <p:cNvPr name="TextBox 19" id="19"/>
          <p:cNvSpPr txBox="true"/>
          <p:nvPr/>
        </p:nvSpPr>
        <p:spPr>
          <a:xfrm rot="0">
            <a:off x="12295057" y="4883336"/>
            <a:ext cx="3496205" cy="916845"/>
          </a:xfrm>
          <a:prstGeom prst="rect">
            <a:avLst/>
          </a:prstGeom>
        </p:spPr>
        <p:txBody>
          <a:bodyPr anchor="t" rtlCol="false" tIns="0" lIns="0" bIns="0" rIns="0">
            <a:spAutoFit/>
          </a:bodyPr>
          <a:lstStyle/>
          <a:p>
            <a:pPr algn="r" rtl="true" marL="0" indent="0" lvl="0">
              <a:lnSpc>
                <a:spcPts val="2490"/>
              </a:lnSpc>
              <a:spcBef>
                <a:spcPct val="0"/>
              </a:spcBef>
            </a:pPr>
            <a:r>
              <a:rPr lang="ar-EG" sz="1778">
                <a:solidFill>
                  <a:srgbClr val="FFFFFF"/>
                </a:solidFill>
                <a:latin typeface="Open Sans"/>
                <a:ea typeface="Open Sans"/>
                <a:cs typeface="Open Sans"/>
                <a:sym typeface="Open Sans"/>
                <a:rtl val="true"/>
              </a:rPr>
              <a:t>واجهة تعريفية تحتوي على عقد الاستنساخ </a:t>
            </a:r>
            <a:r>
              <a:rPr lang="en-US" sz="1778">
                <a:solidFill>
                  <a:srgbClr val="FFFFFF"/>
                </a:solidFill>
                <a:latin typeface="Open Sans"/>
                <a:ea typeface="Open Sans"/>
                <a:cs typeface="Open Sans"/>
                <a:sym typeface="Open Sans"/>
              </a:rPr>
              <a:t>clone</a:t>
            </a:r>
            <a:r>
              <a:rPr lang="ar-EG" sz="1778">
                <a:solidFill>
                  <a:srgbClr val="FFFFFF"/>
                </a:solidFill>
                <a:latin typeface="Open Sans"/>
                <a:ea typeface="Open Sans"/>
                <a:cs typeface="Open Sans"/>
                <a:sym typeface="Open Sans"/>
                <a:rtl val="true"/>
              </a:rPr>
              <a:t>() الذي تنفذه جميع الكائنات القابلة للنسخ.</a:t>
            </a:r>
          </a:p>
        </p:txBody>
      </p:sp>
      <p:sp>
        <p:nvSpPr>
          <p:cNvPr name="TextBox 20" id="20"/>
          <p:cNvSpPr txBox="true"/>
          <p:nvPr/>
        </p:nvSpPr>
        <p:spPr>
          <a:xfrm rot="0">
            <a:off x="12295057" y="7233277"/>
            <a:ext cx="3496205" cy="916845"/>
          </a:xfrm>
          <a:prstGeom prst="rect">
            <a:avLst/>
          </a:prstGeom>
        </p:spPr>
        <p:txBody>
          <a:bodyPr anchor="t" rtlCol="false" tIns="0" lIns="0" bIns="0" rIns="0">
            <a:spAutoFit/>
          </a:bodyPr>
          <a:lstStyle/>
          <a:p>
            <a:pPr algn="r" rtl="true" marL="0" indent="0" lvl="0">
              <a:lnSpc>
                <a:spcPts val="2490"/>
              </a:lnSpc>
              <a:spcBef>
                <a:spcPct val="0"/>
              </a:spcBef>
            </a:pPr>
            <a:r>
              <a:rPr lang="ar-EG" sz="1778">
                <a:solidFill>
                  <a:srgbClr val="FFFFFF"/>
                </a:solidFill>
                <a:latin typeface="Open Sans"/>
                <a:ea typeface="Open Sans"/>
                <a:cs typeface="Open Sans"/>
                <a:sym typeface="Open Sans"/>
                <a:rtl val="true"/>
              </a:rPr>
              <a:t>سجل يحتفظ بقوالب الأعداء المختلفة ويستنسخها حسب الطلب دون إعادة البناء.</a:t>
            </a:r>
          </a:p>
        </p:txBody>
      </p:sp>
      <p:sp>
        <p:nvSpPr>
          <p:cNvPr name="TextBox 21" id="21"/>
          <p:cNvSpPr txBox="true"/>
          <p:nvPr/>
        </p:nvSpPr>
        <p:spPr>
          <a:xfrm rot="0">
            <a:off x="6884477" y="4883336"/>
            <a:ext cx="3496205" cy="916845"/>
          </a:xfrm>
          <a:prstGeom prst="rect">
            <a:avLst/>
          </a:prstGeom>
        </p:spPr>
        <p:txBody>
          <a:bodyPr anchor="t" rtlCol="false" tIns="0" lIns="0" bIns="0" rIns="0">
            <a:spAutoFit/>
          </a:bodyPr>
          <a:lstStyle/>
          <a:p>
            <a:pPr algn="r" rtl="true" marL="0" indent="0" lvl="0">
              <a:lnSpc>
                <a:spcPts val="2490"/>
              </a:lnSpc>
              <a:spcBef>
                <a:spcPct val="0"/>
              </a:spcBef>
            </a:pPr>
            <a:r>
              <a:rPr lang="ar-EG" sz="1778">
                <a:solidFill>
                  <a:srgbClr val="FFFFFF"/>
                </a:solidFill>
                <a:latin typeface="Open Sans"/>
                <a:ea typeface="Open Sans"/>
                <a:cs typeface="Open Sans"/>
                <a:sym typeface="Open Sans"/>
                <a:rtl val="true"/>
              </a:rPr>
              <a:t>النموذج الأصلي الملموس الذي ينفذ </a:t>
            </a:r>
            <a:r>
              <a:rPr lang="en-US" sz="1778">
                <a:solidFill>
                  <a:srgbClr val="FFFFFF"/>
                </a:solidFill>
                <a:latin typeface="Open Sans"/>
                <a:ea typeface="Open Sans"/>
                <a:cs typeface="Open Sans"/>
                <a:sym typeface="Open Sans"/>
              </a:rPr>
              <a:t>clone</a:t>
            </a:r>
            <a:r>
              <a:rPr lang="ar-EG" sz="1778">
                <a:solidFill>
                  <a:srgbClr val="FFFFFF"/>
                </a:solidFill>
                <a:latin typeface="Open Sans"/>
                <a:ea typeface="Open Sans"/>
                <a:cs typeface="Open Sans"/>
                <a:sym typeface="Open Sans"/>
                <a:rtl val="true"/>
              </a:rPr>
              <a:t>() ويحتوي على جميع الخصائص والسلوكيات.</a:t>
            </a:r>
          </a:p>
        </p:txBody>
      </p:sp>
      <p:sp>
        <p:nvSpPr>
          <p:cNvPr name="TextBox 22" id="22"/>
          <p:cNvSpPr txBox="true"/>
          <p:nvPr/>
        </p:nvSpPr>
        <p:spPr>
          <a:xfrm rot="0">
            <a:off x="6884477" y="7233277"/>
            <a:ext cx="3496205" cy="916845"/>
          </a:xfrm>
          <a:prstGeom prst="rect">
            <a:avLst/>
          </a:prstGeom>
        </p:spPr>
        <p:txBody>
          <a:bodyPr anchor="t" rtlCol="false" tIns="0" lIns="0" bIns="0" rIns="0">
            <a:spAutoFit/>
          </a:bodyPr>
          <a:lstStyle/>
          <a:p>
            <a:pPr algn="r" rtl="true" marL="0" indent="0" lvl="0">
              <a:lnSpc>
                <a:spcPts val="2490"/>
              </a:lnSpc>
              <a:spcBef>
                <a:spcPct val="0"/>
              </a:spcBef>
            </a:pPr>
            <a:r>
              <a:rPr lang="ar-EG" sz="1778">
                <a:solidFill>
                  <a:srgbClr val="FFFFFF"/>
                </a:solidFill>
                <a:latin typeface="Open Sans"/>
                <a:ea typeface="Open Sans"/>
                <a:cs typeface="Open Sans"/>
                <a:sym typeface="Open Sans"/>
                <a:rtl val="true"/>
              </a:rPr>
              <a:t>العميل الذي يطلب استنساخ الأعداء من </a:t>
            </a:r>
            <a:r>
              <a:rPr lang="en-US" sz="1778">
                <a:solidFill>
                  <a:srgbClr val="FFFFFF"/>
                </a:solidFill>
                <a:latin typeface="Open Sans"/>
                <a:ea typeface="Open Sans"/>
                <a:cs typeface="Open Sans"/>
                <a:sym typeface="Open Sans"/>
              </a:rPr>
              <a:t>EnemySpawner</a:t>
            </a:r>
            <a:r>
              <a:rPr lang="ar-EG" sz="1778">
                <a:solidFill>
                  <a:srgbClr val="FFFFFF"/>
                </a:solidFill>
                <a:latin typeface="Open Sans"/>
                <a:ea typeface="Open Sans"/>
                <a:cs typeface="Open Sans"/>
                <a:sym typeface="Open Sans"/>
                <a:rtl val="true"/>
              </a:rPr>
              <a:t> دون معرفة تفاصيل البناء.</a:t>
            </a:r>
          </a:p>
        </p:txBody>
      </p:sp>
      <p:sp>
        <p:nvSpPr>
          <p:cNvPr name="TextBox 23" id="23"/>
          <p:cNvSpPr txBox="true"/>
          <p:nvPr/>
        </p:nvSpPr>
        <p:spPr>
          <a:xfrm rot="0">
            <a:off x="8302673" y="1755040"/>
            <a:ext cx="8631038" cy="953235"/>
          </a:xfrm>
          <a:prstGeom prst="rect">
            <a:avLst/>
          </a:prstGeom>
        </p:spPr>
        <p:txBody>
          <a:bodyPr anchor="t" rtlCol="false" tIns="0" lIns="0" bIns="0" rIns="0">
            <a:spAutoFit/>
          </a:bodyPr>
          <a:lstStyle/>
          <a:p>
            <a:pPr algn="r" rtl="true" marL="0" indent="0" lvl="0">
              <a:lnSpc>
                <a:spcPts val="7834"/>
              </a:lnSpc>
              <a:spcBef>
                <a:spcPct val="0"/>
              </a:spcBef>
            </a:pPr>
            <a:r>
              <a:rPr lang="ar-EG" b="true" sz="5596">
                <a:solidFill>
                  <a:srgbClr val="FFFFFF"/>
                </a:solidFill>
                <a:latin typeface="Proxima Nova Bold"/>
                <a:ea typeface="Proxima Nova Bold"/>
                <a:cs typeface="Proxima Nova Bold"/>
                <a:sym typeface="Proxima Nova Bold"/>
                <a:rtl val="true"/>
              </a:rPr>
              <a:t>نمط </a:t>
            </a:r>
            <a:r>
              <a:rPr lang="en-US" b="true" sz="5596">
                <a:solidFill>
                  <a:srgbClr val="FFFFFF"/>
                </a:solidFill>
                <a:latin typeface="Proxima Nova Bold"/>
                <a:ea typeface="Proxima Nova Bold"/>
                <a:cs typeface="Proxima Nova Bold"/>
                <a:sym typeface="Proxima Nova Bold"/>
              </a:rPr>
              <a:t>Prototype</a:t>
            </a:r>
          </a:p>
        </p:txBody>
      </p:sp>
      <p:sp>
        <p:nvSpPr>
          <p:cNvPr name="TextBox 24" id="24"/>
          <p:cNvSpPr txBox="true"/>
          <p:nvPr/>
        </p:nvSpPr>
        <p:spPr>
          <a:xfrm rot="0">
            <a:off x="8156676" y="2821148"/>
            <a:ext cx="8777034" cy="953235"/>
          </a:xfrm>
          <a:prstGeom prst="rect">
            <a:avLst/>
          </a:prstGeom>
        </p:spPr>
        <p:txBody>
          <a:bodyPr anchor="t" rtlCol="false" tIns="0" lIns="0" bIns="0" rIns="0">
            <a:spAutoFit/>
          </a:bodyPr>
          <a:lstStyle/>
          <a:p>
            <a:pPr algn="r" rtl="true" marL="0" indent="0" lvl="0">
              <a:lnSpc>
                <a:spcPts val="7834"/>
              </a:lnSpc>
              <a:spcBef>
                <a:spcPct val="0"/>
              </a:spcBef>
            </a:pPr>
            <a:r>
              <a:rPr lang="ar-EG" b="true" sz="5596">
                <a:solidFill>
                  <a:srgbClr val="7ED957"/>
                </a:solidFill>
                <a:latin typeface="Proxima Nova Bold"/>
                <a:ea typeface="Proxima Nova Bold"/>
                <a:cs typeface="Proxima Nova Bold"/>
                <a:sym typeface="Proxima Nova Bold"/>
                <a:rtl val="true"/>
              </a:rPr>
              <a:t>شرح الكلاسات والواجهات</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grpSp>
        <p:nvGrpSpPr>
          <p:cNvPr name="Group 2" id="2"/>
          <p:cNvGrpSpPr/>
          <p:nvPr/>
        </p:nvGrpSpPr>
        <p:grpSpPr>
          <a:xfrm rot="0">
            <a:off x="9304193" y="-955179"/>
            <a:ext cx="7955107" cy="8848786"/>
            <a:chOff x="0" y="0"/>
            <a:chExt cx="2821476" cy="3138441"/>
          </a:xfrm>
        </p:grpSpPr>
        <p:sp>
          <p:nvSpPr>
            <p:cNvPr name="Freeform 3" id="3"/>
            <p:cNvSpPr/>
            <p:nvPr/>
          </p:nvSpPr>
          <p:spPr>
            <a:xfrm flipH="false" flipV="false" rot="0">
              <a:off x="0" y="0"/>
              <a:ext cx="2821476" cy="3138441"/>
            </a:xfrm>
            <a:custGeom>
              <a:avLst/>
              <a:gdLst/>
              <a:ahLst/>
              <a:cxnLst/>
              <a:rect r="r" b="b" t="t" l="l"/>
              <a:pathLst>
                <a:path h="3138441" w="2821476">
                  <a:moveTo>
                    <a:pt x="2792280" y="0"/>
                  </a:moveTo>
                  <a:lnTo>
                    <a:pt x="29196" y="0"/>
                  </a:lnTo>
                  <a:cubicBezTo>
                    <a:pt x="21453" y="0"/>
                    <a:pt x="14027" y="3076"/>
                    <a:pt x="8551" y="8551"/>
                  </a:cubicBezTo>
                  <a:cubicBezTo>
                    <a:pt x="3076" y="14027"/>
                    <a:pt x="0" y="21453"/>
                    <a:pt x="0" y="29196"/>
                  </a:cubicBezTo>
                  <a:lnTo>
                    <a:pt x="0" y="3109245"/>
                  </a:lnTo>
                  <a:cubicBezTo>
                    <a:pt x="0" y="3116989"/>
                    <a:pt x="3076" y="3124415"/>
                    <a:pt x="8551" y="3129890"/>
                  </a:cubicBezTo>
                  <a:cubicBezTo>
                    <a:pt x="14027" y="3135365"/>
                    <a:pt x="21453" y="3138441"/>
                    <a:pt x="29196" y="3138441"/>
                  </a:cubicBezTo>
                  <a:lnTo>
                    <a:pt x="2792280" y="3138441"/>
                  </a:lnTo>
                  <a:cubicBezTo>
                    <a:pt x="2800023" y="3138441"/>
                    <a:pt x="2807449" y="3135365"/>
                    <a:pt x="2812924" y="3129890"/>
                  </a:cubicBezTo>
                  <a:cubicBezTo>
                    <a:pt x="2818400" y="3124415"/>
                    <a:pt x="2821476" y="3116989"/>
                    <a:pt x="2821476" y="3109245"/>
                  </a:cubicBezTo>
                  <a:lnTo>
                    <a:pt x="2821476" y="29196"/>
                  </a:lnTo>
                  <a:cubicBezTo>
                    <a:pt x="2821476" y="21453"/>
                    <a:pt x="2818400" y="14027"/>
                    <a:pt x="2812924" y="8551"/>
                  </a:cubicBezTo>
                  <a:cubicBezTo>
                    <a:pt x="2807449" y="3076"/>
                    <a:pt x="2800023" y="0"/>
                    <a:pt x="2792280" y="0"/>
                  </a:cubicBezTo>
                  <a:close/>
                </a:path>
              </a:pathLst>
            </a:custGeom>
            <a:blipFill>
              <a:blip r:embed="rId2"/>
              <a:stretch>
                <a:fillRect l="-5617" t="0" r="-5617" b="0"/>
              </a:stretch>
            </a:blipFill>
            <a:ln w="95250" cap="rnd">
              <a:solidFill>
                <a:srgbClr val="7ED957"/>
              </a:solidFill>
              <a:prstDash val="solid"/>
              <a:round/>
            </a:ln>
          </p:spPr>
        </p:sp>
      </p:grpSp>
      <p:sp>
        <p:nvSpPr>
          <p:cNvPr name="AutoShape 4" id="4"/>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5" id="5"/>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5400000">
            <a:off x="493806" y="7026853"/>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5400000">
            <a:off x="17721031" y="1866218"/>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370671" y="2374530"/>
            <a:ext cx="5919534" cy="953235"/>
          </a:xfrm>
          <a:prstGeom prst="rect">
            <a:avLst/>
          </a:prstGeom>
        </p:spPr>
        <p:txBody>
          <a:bodyPr anchor="t" rtlCol="false" tIns="0" lIns="0" bIns="0" rIns="0">
            <a:spAutoFit/>
          </a:bodyPr>
          <a:lstStyle/>
          <a:p>
            <a:pPr algn="r" rtl="true" marL="0" indent="0" lvl="0">
              <a:lnSpc>
                <a:spcPts val="7834"/>
              </a:lnSpc>
              <a:spcBef>
                <a:spcPct val="0"/>
              </a:spcBef>
            </a:pPr>
            <a:r>
              <a:rPr lang="ar-EG" b="true" sz="5596">
                <a:solidFill>
                  <a:srgbClr val="FFFFFF"/>
                </a:solidFill>
                <a:latin typeface="Proxima Nova Bold"/>
                <a:ea typeface="Proxima Nova Bold"/>
                <a:cs typeface="Proxima Nova Bold"/>
                <a:sym typeface="Proxima Nova Bold"/>
                <a:rtl val="true"/>
              </a:rPr>
              <a:t>نمط </a:t>
            </a:r>
            <a:r>
              <a:rPr lang="en-US" b="true" sz="5596">
                <a:solidFill>
                  <a:srgbClr val="FFFFFF"/>
                </a:solidFill>
                <a:latin typeface="Proxima Nova Bold"/>
                <a:ea typeface="Proxima Nova Bold"/>
                <a:cs typeface="Proxima Nova Bold"/>
                <a:sym typeface="Proxima Nova Bold"/>
              </a:rPr>
              <a:t>Prototype</a:t>
            </a:r>
          </a:p>
        </p:txBody>
      </p:sp>
      <p:sp>
        <p:nvSpPr>
          <p:cNvPr name="TextBox 10" id="10"/>
          <p:cNvSpPr txBox="true"/>
          <p:nvPr/>
        </p:nvSpPr>
        <p:spPr>
          <a:xfrm rot="0">
            <a:off x="2370671" y="3252279"/>
            <a:ext cx="5919534" cy="953235"/>
          </a:xfrm>
          <a:prstGeom prst="rect">
            <a:avLst/>
          </a:prstGeom>
        </p:spPr>
        <p:txBody>
          <a:bodyPr anchor="t" rtlCol="false" tIns="0" lIns="0" bIns="0" rIns="0">
            <a:spAutoFit/>
          </a:bodyPr>
          <a:lstStyle/>
          <a:p>
            <a:pPr algn="r" rtl="true" marL="0" indent="0" lvl="0">
              <a:lnSpc>
                <a:spcPts val="7834"/>
              </a:lnSpc>
              <a:spcBef>
                <a:spcPct val="0"/>
              </a:spcBef>
            </a:pPr>
            <a:r>
              <a:rPr lang="ar-EG" b="true" sz="5596">
                <a:solidFill>
                  <a:srgbClr val="7ED957"/>
                </a:solidFill>
                <a:latin typeface="Proxima Nova Bold"/>
                <a:ea typeface="Proxima Nova Bold"/>
                <a:cs typeface="Proxima Nova Bold"/>
                <a:sym typeface="Proxima Nova Bold"/>
                <a:rtl val="true"/>
              </a:rPr>
              <a:t>سؤال جواب</a:t>
            </a:r>
          </a:p>
        </p:txBody>
      </p:sp>
      <p:sp>
        <p:nvSpPr>
          <p:cNvPr name="TextBox 11" id="11"/>
          <p:cNvSpPr txBox="true"/>
          <p:nvPr/>
        </p:nvSpPr>
        <p:spPr>
          <a:xfrm rot="0">
            <a:off x="2047139" y="5276584"/>
            <a:ext cx="6243066" cy="692186"/>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سؤال: لماذا لا تستخدم </a:t>
            </a:r>
            <a:r>
              <a:rPr lang="en-US" sz="1998">
                <a:solidFill>
                  <a:srgbClr val="FFFFFF"/>
                </a:solidFill>
                <a:latin typeface="Open Sans"/>
                <a:ea typeface="Open Sans"/>
                <a:cs typeface="Open Sans"/>
                <a:sym typeface="Open Sans"/>
              </a:rPr>
              <a:t>new Enemy</a:t>
            </a:r>
            <a:r>
              <a:rPr lang="ar-EG" sz="1998">
                <a:solidFill>
                  <a:srgbClr val="FFFFFF"/>
                </a:solidFill>
                <a:latin typeface="Open Sans"/>
                <a:ea typeface="Open Sans"/>
                <a:cs typeface="Open Sans"/>
                <a:sym typeface="Open Sans"/>
                <a:rtl val="true"/>
              </a:rPr>
              <a:t>() في كل مرة بدلاً من الاستنساخ؟</a:t>
            </a:r>
          </a:p>
        </p:txBody>
      </p:sp>
      <p:sp>
        <p:nvSpPr>
          <p:cNvPr name="TextBox 12" id="12"/>
          <p:cNvSpPr txBox="true"/>
          <p:nvPr/>
        </p:nvSpPr>
        <p:spPr>
          <a:xfrm rot="0">
            <a:off x="2047139" y="6763120"/>
            <a:ext cx="6243066" cy="692186"/>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جواب: الاستنساخ يفصل بناء الكائن عن إعداده، القالب يحتوي على كل الخصائص مسبقاً، وهذا يدعم مبدأ </a:t>
            </a:r>
            <a:r>
              <a:rPr lang="en-US" sz="1998">
                <a:solidFill>
                  <a:srgbClr val="FFFFFF"/>
                </a:solidFill>
                <a:latin typeface="Open Sans"/>
                <a:ea typeface="Open Sans"/>
                <a:cs typeface="Open Sans"/>
                <a:sym typeface="Open Sans"/>
              </a:rPr>
              <a:t>Open/Closed</a:t>
            </a:r>
          </a:p>
        </p:txBody>
      </p:sp>
      <p:sp>
        <p:nvSpPr>
          <p:cNvPr name="TextBox 13" id="13"/>
          <p:cNvSpPr txBox="true"/>
          <p:nvPr/>
        </p:nvSpPr>
        <p:spPr>
          <a:xfrm rot="0">
            <a:off x="3445439" y="4505701"/>
            <a:ext cx="4861603" cy="324482"/>
          </a:xfrm>
          <a:prstGeom prst="rect">
            <a:avLst/>
          </a:prstGeom>
        </p:spPr>
        <p:txBody>
          <a:bodyPr anchor="t" rtlCol="false" tIns="0" lIns="0" bIns="0" rIns="0">
            <a:spAutoFit/>
          </a:bodyPr>
          <a:lstStyle/>
          <a:p>
            <a:pPr algn="r" rtl="true" marL="0" indent="0" lvl="0">
              <a:lnSpc>
                <a:spcPts val="2631"/>
              </a:lnSpc>
            </a:pPr>
            <a:r>
              <a:rPr lang="ar-EG" b="true" sz="2071">
                <a:solidFill>
                  <a:srgbClr val="FFFFFF"/>
                </a:solidFill>
                <a:latin typeface="Proxima Nova Bold"/>
                <a:ea typeface="Proxima Nova Bold"/>
                <a:cs typeface="Proxima Nova Bold"/>
                <a:sym typeface="Proxima Nova Bold"/>
                <a:rtl val="true"/>
              </a:rPr>
              <a:t>مناقشة سؤال محتمل مع الإجابة النموذجية</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sp>
        <p:nvSpPr>
          <p:cNvPr name="AutoShape 2" id="2"/>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3" id="3"/>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082153" y="833522"/>
            <a:ext cx="354294" cy="390407"/>
          </a:xfrm>
          <a:custGeom>
            <a:avLst/>
            <a:gdLst/>
            <a:ahLst/>
            <a:cxnLst/>
            <a:rect r="r" b="b" t="t" l="l"/>
            <a:pathLst>
              <a:path h="390407" w="354294">
                <a:moveTo>
                  <a:pt x="354294" y="0"/>
                </a:moveTo>
                <a:lnTo>
                  <a:pt x="0" y="0"/>
                </a:lnTo>
                <a:lnTo>
                  <a:pt x="0" y="390406"/>
                </a:lnTo>
                <a:lnTo>
                  <a:pt x="354294" y="390406"/>
                </a:lnTo>
                <a:lnTo>
                  <a:pt x="3542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16197258" y="2178835"/>
            <a:ext cx="388512" cy="273414"/>
          </a:xfrm>
          <a:custGeom>
            <a:avLst/>
            <a:gdLst/>
            <a:ahLst/>
            <a:cxnLst/>
            <a:rect r="r" b="b" t="t" l="l"/>
            <a:pathLst>
              <a:path h="273414" w="388512">
                <a:moveTo>
                  <a:pt x="388512" y="0"/>
                </a:moveTo>
                <a:lnTo>
                  <a:pt x="0" y="0"/>
                </a:lnTo>
                <a:lnTo>
                  <a:pt x="0" y="273415"/>
                </a:lnTo>
                <a:lnTo>
                  <a:pt x="388512" y="273415"/>
                </a:lnTo>
                <a:lnTo>
                  <a:pt x="38851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0">
            <a:off x="16197258" y="4430129"/>
            <a:ext cx="388512" cy="273414"/>
          </a:xfrm>
          <a:custGeom>
            <a:avLst/>
            <a:gdLst/>
            <a:ahLst/>
            <a:cxnLst/>
            <a:rect r="r" b="b" t="t" l="l"/>
            <a:pathLst>
              <a:path h="273414" w="388512">
                <a:moveTo>
                  <a:pt x="388512" y="0"/>
                </a:moveTo>
                <a:lnTo>
                  <a:pt x="0" y="0"/>
                </a:lnTo>
                <a:lnTo>
                  <a:pt x="0" y="273414"/>
                </a:lnTo>
                <a:lnTo>
                  <a:pt x="388512" y="273414"/>
                </a:lnTo>
                <a:lnTo>
                  <a:pt x="38851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0">
            <a:off x="16197258" y="6745165"/>
            <a:ext cx="388512" cy="273414"/>
          </a:xfrm>
          <a:custGeom>
            <a:avLst/>
            <a:gdLst/>
            <a:ahLst/>
            <a:cxnLst/>
            <a:rect r="r" b="b" t="t" l="l"/>
            <a:pathLst>
              <a:path h="273414" w="388512">
                <a:moveTo>
                  <a:pt x="388512" y="0"/>
                </a:moveTo>
                <a:lnTo>
                  <a:pt x="0" y="0"/>
                </a:lnTo>
                <a:lnTo>
                  <a:pt x="0" y="273414"/>
                </a:lnTo>
                <a:lnTo>
                  <a:pt x="388512" y="273414"/>
                </a:lnTo>
                <a:lnTo>
                  <a:pt x="388512"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2142732" y="844130"/>
            <a:ext cx="6360037" cy="4481403"/>
            <a:chOff x="0" y="0"/>
            <a:chExt cx="2255745" cy="1589441"/>
          </a:xfrm>
        </p:grpSpPr>
        <p:sp>
          <p:nvSpPr>
            <p:cNvPr name="Freeform 10" id="10"/>
            <p:cNvSpPr/>
            <p:nvPr/>
          </p:nvSpPr>
          <p:spPr>
            <a:xfrm flipH="false" flipV="false" rot="0">
              <a:off x="0" y="0"/>
              <a:ext cx="2255744" cy="1589441"/>
            </a:xfrm>
            <a:custGeom>
              <a:avLst/>
              <a:gdLst/>
              <a:ahLst/>
              <a:cxnLst/>
              <a:rect r="r" b="b" t="t" l="l"/>
              <a:pathLst>
                <a:path h="1589441" w="2255744">
                  <a:moveTo>
                    <a:pt x="2219226" y="0"/>
                  </a:moveTo>
                  <a:lnTo>
                    <a:pt x="36518" y="0"/>
                  </a:lnTo>
                  <a:cubicBezTo>
                    <a:pt x="26833" y="0"/>
                    <a:pt x="17544" y="3847"/>
                    <a:pt x="10696" y="10696"/>
                  </a:cubicBezTo>
                  <a:cubicBezTo>
                    <a:pt x="3847" y="17544"/>
                    <a:pt x="0" y="26833"/>
                    <a:pt x="0" y="36518"/>
                  </a:cubicBezTo>
                  <a:lnTo>
                    <a:pt x="0" y="1552922"/>
                  </a:lnTo>
                  <a:cubicBezTo>
                    <a:pt x="0" y="1573091"/>
                    <a:pt x="16350" y="1589441"/>
                    <a:pt x="36518" y="1589441"/>
                  </a:cubicBezTo>
                  <a:lnTo>
                    <a:pt x="2219226" y="1589441"/>
                  </a:lnTo>
                  <a:cubicBezTo>
                    <a:pt x="2228911" y="1589441"/>
                    <a:pt x="2238200" y="1585593"/>
                    <a:pt x="2245049" y="1578745"/>
                  </a:cubicBezTo>
                  <a:cubicBezTo>
                    <a:pt x="2251897" y="1571896"/>
                    <a:pt x="2255744" y="1562608"/>
                    <a:pt x="2255744" y="1552922"/>
                  </a:cubicBezTo>
                  <a:lnTo>
                    <a:pt x="2255744" y="36518"/>
                  </a:lnTo>
                  <a:cubicBezTo>
                    <a:pt x="2255744" y="26833"/>
                    <a:pt x="2251897" y="17544"/>
                    <a:pt x="2245049" y="10696"/>
                  </a:cubicBezTo>
                  <a:cubicBezTo>
                    <a:pt x="2238200" y="3847"/>
                    <a:pt x="2228911" y="0"/>
                    <a:pt x="2219226" y="0"/>
                  </a:cubicBezTo>
                  <a:close/>
                </a:path>
              </a:pathLst>
            </a:custGeom>
            <a:blipFill>
              <a:blip r:embed="rId10"/>
              <a:stretch>
                <a:fillRect l="0" t="-20960" r="0" b="-20960"/>
              </a:stretch>
            </a:blipFill>
            <a:ln w="95250" cap="rnd">
              <a:solidFill>
                <a:srgbClr val="7ED957"/>
              </a:solidFill>
              <a:prstDash val="solid"/>
              <a:round/>
            </a:ln>
          </p:spPr>
        </p:sp>
      </p:grpSp>
      <p:sp>
        <p:nvSpPr>
          <p:cNvPr name="Freeform 11" id="11"/>
          <p:cNvSpPr/>
          <p:nvPr/>
        </p:nvSpPr>
        <p:spPr>
          <a:xfrm flipH="true" flipV="false" rot="5400000">
            <a:off x="461731" y="2478156"/>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true" flipV="false" rot="5400000">
            <a:off x="17721031" y="6952897"/>
            <a:ext cx="1133938" cy="599570"/>
          </a:xfrm>
          <a:custGeom>
            <a:avLst/>
            <a:gdLst/>
            <a:ahLst/>
            <a:cxnLst/>
            <a:rect r="r" b="b" t="t" l="l"/>
            <a:pathLst>
              <a:path h="599570" w="1133938">
                <a:moveTo>
                  <a:pt x="1133938" y="0"/>
                </a:moveTo>
                <a:lnTo>
                  <a:pt x="0" y="0"/>
                </a:lnTo>
                <a:lnTo>
                  <a:pt x="0" y="599569"/>
                </a:lnTo>
                <a:lnTo>
                  <a:pt x="1133938" y="599569"/>
                </a:lnTo>
                <a:lnTo>
                  <a:pt x="113393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14309741" y="834605"/>
            <a:ext cx="2623970"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Garet Bold"/>
                <a:ea typeface="Garet Bold"/>
                <a:cs typeface="Garet Bold"/>
                <a:sym typeface="Garet Bold"/>
                <a:rtl val="true"/>
              </a:rPr>
              <a:t>أنماط التصميم</a:t>
            </a:r>
          </a:p>
        </p:txBody>
      </p:sp>
      <p:sp>
        <p:nvSpPr>
          <p:cNvPr name="TextBox 14" id="14"/>
          <p:cNvSpPr txBox="true"/>
          <p:nvPr/>
        </p:nvSpPr>
        <p:spPr>
          <a:xfrm rot="0">
            <a:off x="10174604" y="2109858"/>
            <a:ext cx="5615323"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Proxima Nova Bold"/>
                <a:ea typeface="Proxima Nova Bold"/>
                <a:cs typeface="Proxima Nova Bold"/>
                <a:sym typeface="Proxima Nova Bold"/>
                <a:rtl val="true"/>
              </a:rPr>
              <a:t>إدارة التحديث والرسم في إطار واحد</a:t>
            </a:r>
          </a:p>
        </p:txBody>
      </p:sp>
      <p:sp>
        <p:nvSpPr>
          <p:cNvPr name="TextBox 15" id="15"/>
          <p:cNvSpPr txBox="true"/>
          <p:nvPr/>
        </p:nvSpPr>
        <p:spPr>
          <a:xfrm rot="0">
            <a:off x="8940919" y="4361151"/>
            <a:ext cx="6849008"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Proxima Nova Bold"/>
                <a:ea typeface="Proxima Nova Bold"/>
                <a:cs typeface="Proxima Nova Bold"/>
                <a:sym typeface="Proxima Nova Bold"/>
                <a:rtl val="true"/>
              </a:rPr>
              <a:t>تجنب معرفة حلقة اللعبة بكل قائمة منفصلة</a:t>
            </a:r>
          </a:p>
        </p:txBody>
      </p:sp>
      <p:sp>
        <p:nvSpPr>
          <p:cNvPr name="TextBox 16" id="16"/>
          <p:cNvSpPr txBox="true"/>
          <p:nvPr/>
        </p:nvSpPr>
        <p:spPr>
          <a:xfrm rot="0">
            <a:off x="9433729" y="6676187"/>
            <a:ext cx="6356198"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Proxima Nova Bold"/>
                <a:ea typeface="Proxima Nova Bold"/>
                <a:cs typeface="Proxima Nova Bold"/>
                <a:sym typeface="Proxima Nova Bold"/>
                <a:rtl val="true"/>
              </a:rPr>
              <a:t>التعامل الموحد مع الكائنات والمجموعات</a:t>
            </a:r>
          </a:p>
        </p:txBody>
      </p:sp>
      <p:sp>
        <p:nvSpPr>
          <p:cNvPr name="TextBox 17" id="17"/>
          <p:cNvSpPr txBox="true"/>
          <p:nvPr/>
        </p:nvSpPr>
        <p:spPr>
          <a:xfrm rot="0">
            <a:off x="9546861" y="2739841"/>
            <a:ext cx="6243066" cy="692186"/>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الحاجة لإدارة تحديث ورسم كل كائن في اللعبة ضمن إطار زمني واحد، مما يتطلب آلية موحدة للتنسيق</a:t>
            </a:r>
          </a:p>
        </p:txBody>
      </p:sp>
      <p:sp>
        <p:nvSpPr>
          <p:cNvPr name="TextBox 18" id="18"/>
          <p:cNvSpPr txBox="true"/>
          <p:nvPr/>
        </p:nvSpPr>
        <p:spPr>
          <a:xfrm rot="0">
            <a:off x="9546861" y="4991135"/>
            <a:ext cx="6243066" cy="1044611"/>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بدون </a:t>
            </a:r>
            <a:r>
              <a:rPr lang="en-US" sz="1998">
                <a:solidFill>
                  <a:srgbClr val="FFFFFF"/>
                </a:solidFill>
                <a:latin typeface="Open Sans"/>
                <a:ea typeface="Open Sans"/>
                <a:cs typeface="Open Sans"/>
                <a:sym typeface="Open Sans"/>
              </a:rPr>
              <a:t>Composite</a:t>
            </a:r>
            <a:r>
              <a:rPr lang="ar-EG" sz="1998">
                <a:solidFill>
                  <a:srgbClr val="FFFFFF"/>
                </a:solidFill>
                <a:latin typeface="Open Sans"/>
                <a:ea typeface="Open Sans"/>
                <a:cs typeface="Open Sans"/>
                <a:sym typeface="Open Sans"/>
                <a:rtl val="true"/>
              </a:rPr>
              <a:t>، ستحتاج حلقة اللعبة لمعرفة كل قائمة كائنات بشكل منفصل مما يزيد التعقيد والاقتران</a:t>
            </a:r>
          </a:p>
        </p:txBody>
      </p:sp>
      <p:sp>
        <p:nvSpPr>
          <p:cNvPr name="TextBox 19" id="19"/>
          <p:cNvSpPr txBox="true"/>
          <p:nvPr/>
        </p:nvSpPr>
        <p:spPr>
          <a:xfrm rot="0">
            <a:off x="9546861" y="7306171"/>
            <a:ext cx="6243066" cy="1044611"/>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النمط يسمح بالتعامل مع الكائنات الفردية والمجموعات بنفس الطريقة، مما يبسط الكود ويسهل التوسع</a:t>
            </a:r>
          </a:p>
        </p:txBody>
      </p:sp>
      <p:sp>
        <p:nvSpPr>
          <p:cNvPr name="TextBox 20" id="20"/>
          <p:cNvSpPr txBox="true"/>
          <p:nvPr/>
        </p:nvSpPr>
        <p:spPr>
          <a:xfrm rot="0">
            <a:off x="2062814" y="5296958"/>
            <a:ext cx="6439955" cy="910822"/>
          </a:xfrm>
          <a:prstGeom prst="rect">
            <a:avLst/>
          </a:prstGeom>
        </p:spPr>
        <p:txBody>
          <a:bodyPr anchor="t" rtlCol="false" tIns="0" lIns="0" bIns="0" rIns="0">
            <a:spAutoFit/>
          </a:bodyPr>
          <a:lstStyle/>
          <a:p>
            <a:pPr algn="r" rtl="true" marL="0" indent="0" lvl="0">
              <a:lnSpc>
                <a:spcPts val="7547"/>
              </a:lnSpc>
              <a:spcBef>
                <a:spcPct val="0"/>
              </a:spcBef>
            </a:pPr>
            <a:r>
              <a:rPr lang="ar-EG" b="true" sz="5390">
                <a:solidFill>
                  <a:srgbClr val="FFFFFF"/>
                </a:solidFill>
                <a:latin typeface="Proxima Nova Bold"/>
                <a:ea typeface="Proxima Nova Bold"/>
                <a:cs typeface="Proxima Nova Bold"/>
                <a:sym typeface="Proxima Nova Bold"/>
                <a:rtl val="true"/>
              </a:rPr>
              <a:t>نمط </a:t>
            </a:r>
            <a:r>
              <a:rPr lang="en-US" b="true" sz="5390">
                <a:solidFill>
                  <a:srgbClr val="FFFFFF"/>
                </a:solidFill>
                <a:latin typeface="Proxima Nova Bold"/>
                <a:ea typeface="Proxima Nova Bold"/>
                <a:cs typeface="Proxima Nova Bold"/>
                <a:sym typeface="Proxima Nova Bold"/>
              </a:rPr>
              <a:t>Composite</a:t>
            </a:r>
          </a:p>
        </p:txBody>
      </p:sp>
      <p:sp>
        <p:nvSpPr>
          <p:cNvPr name="TextBox 21" id="21"/>
          <p:cNvSpPr txBox="true"/>
          <p:nvPr/>
        </p:nvSpPr>
        <p:spPr>
          <a:xfrm rot="0">
            <a:off x="2142732" y="6174708"/>
            <a:ext cx="6360037" cy="910822"/>
          </a:xfrm>
          <a:prstGeom prst="rect">
            <a:avLst/>
          </a:prstGeom>
        </p:spPr>
        <p:txBody>
          <a:bodyPr anchor="t" rtlCol="false" tIns="0" lIns="0" bIns="0" rIns="0">
            <a:spAutoFit/>
          </a:bodyPr>
          <a:lstStyle/>
          <a:p>
            <a:pPr algn="r" rtl="true" marL="0" indent="0" lvl="0">
              <a:lnSpc>
                <a:spcPts val="7547"/>
              </a:lnSpc>
              <a:spcBef>
                <a:spcPct val="0"/>
              </a:spcBef>
            </a:pPr>
            <a:r>
              <a:rPr lang="ar-EG" b="true" sz="5390">
                <a:solidFill>
                  <a:srgbClr val="7ED957"/>
                </a:solidFill>
                <a:latin typeface="Proxima Nova Bold"/>
                <a:ea typeface="Proxima Nova Bold"/>
                <a:cs typeface="Proxima Nova Bold"/>
                <a:sym typeface="Proxima Nova Bold"/>
                <a:rtl val="true"/>
              </a:rPr>
              <a:t>لماذا استخدمناه؟</a:t>
            </a:r>
          </a:p>
        </p:txBody>
      </p:sp>
      <p:sp>
        <p:nvSpPr>
          <p:cNvPr name="TextBox 22" id="22"/>
          <p:cNvSpPr txBox="true"/>
          <p:nvPr/>
        </p:nvSpPr>
        <p:spPr>
          <a:xfrm rot="0">
            <a:off x="2259703" y="7306171"/>
            <a:ext cx="6243066" cy="692186"/>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يوفر هذا النمط طريقة موحدة لإدارة جميع كائنات اللعبة في حلقة التحديث والرسم بكفاءة عالية</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sp>
        <p:nvSpPr>
          <p:cNvPr name="AutoShape 2" id="2"/>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3" id="3"/>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082153" y="833522"/>
            <a:ext cx="354294" cy="390407"/>
          </a:xfrm>
          <a:custGeom>
            <a:avLst/>
            <a:gdLst/>
            <a:ahLst/>
            <a:cxnLst/>
            <a:rect r="r" b="b" t="t" l="l"/>
            <a:pathLst>
              <a:path h="390407" w="354294">
                <a:moveTo>
                  <a:pt x="354294" y="0"/>
                </a:moveTo>
                <a:lnTo>
                  <a:pt x="0" y="0"/>
                </a:lnTo>
                <a:lnTo>
                  <a:pt x="0" y="390406"/>
                </a:lnTo>
                <a:lnTo>
                  <a:pt x="354294" y="390406"/>
                </a:lnTo>
                <a:lnTo>
                  <a:pt x="3542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5400000">
            <a:off x="17574860" y="4868792"/>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0">
            <a:off x="-295738" y="8336486"/>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342593" y="4830394"/>
            <a:ext cx="603553" cy="589517"/>
          </a:xfrm>
          <a:custGeom>
            <a:avLst/>
            <a:gdLst/>
            <a:ahLst/>
            <a:cxnLst/>
            <a:rect r="r" b="b" t="t" l="l"/>
            <a:pathLst>
              <a:path h="589517" w="603553">
                <a:moveTo>
                  <a:pt x="0" y="0"/>
                </a:moveTo>
                <a:lnTo>
                  <a:pt x="603553" y="0"/>
                </a:lnTo>
                <a:lnTo>
                  <a:pt x="603553" y="589517"/>
                </a:lnTo>
                <a:lnTo>
                  <a:pt x="0" y="589517"/>
                </a:lnTo>
                <a:lnTo>
                  <a:pt x="0" y="0"/>
                </a:lnTo>
                <a:close/>
              </a:path>
            </a:pathLst>
          </a:custGeom>
          <a:blipFill>
            <a:blip r:embed="rId10"/>
            <a:stretch>
              <a:fillRect l="0" t="0" r="0" b="0"/>
            </a:stretch>
          </a:blipFill>
        </p:spPr>
      </p:sp>
      <p:sp>
        <p:nvSpPr>
          <p:cNvPr name="Freeform 9" id="9"/>
          <p:cNvSpPr/>
          <p:nvPr/>
        </p:nvSpPr>
        <p:spPr>
          <a:xfrm flipH="false" flipV="false" rot="0">
            <a:off x="16352248" y="7150970"/>
            <a:ext cx="621854" cy="767058"/>
          </a:xfrm>
          <a:custGeom>
            <a:avLst/>
            <a:gdLst/>
            <a:ahLst/>
            <a:cxnLst/>
            <a:rect r="r" b="b" t="t" l="l"/>
            <a:pathLst>
              <a:path h="767058" w="621854">
                <a:moveTo>
                  <a:pt x="0" y="0"/>
                </a:moveTo>
                <a:lnTo>
                  <a:pt x="621854" y="0"/>
                </a:lnTo>
                <a:lnTo>
                  <a:pt x="621854" y="767058"/>
                </a:lnTo>
                <a:lnTo>
                  <a:pt x="0" y="767058"/>
                </a:lnTo>
                <a:lnTo>
                  <a:pt x="0" y="0"/>
                </a:lnTo>
                <a:close/>
              </a:path>
            </a:pathLst>
          </a:custGeom>
          <a:blipFill>
            <a:blip r:embed="rId11"/>
            <a:stretch>
              <a:fillRect l="0" t="0" r="0" b="0"/>
            </a:stretch>
          </a:blipFill>
        </p:spPr>
      </p:sp>
      <p:sp>
        <p:nvSpPr>
          <p:cNvPr name="Freeform 10" id="10"/>
          <p:cNvSpPr/>
          <p:nvPr/>
        </p:nvSpPr>
        <p:spPr>
          <a:xfrm flipH="false" flipV="false" rot="0">
            <a:off x="10630256" y="4828807"/>
            <a:ext cx="859839" cy="639720"/>
          </a:xfrm>
          <a:custGeom>
            <a:avLst/>
            <a:gdLst/>
            <a:ahLst/>
            <a:cxnLst/>
            <a:rect r="r" b="b" t="t" l="l"/>
            <a:pathLst>
              <a:path h="639720" w="859839">
                <a:moveTo>
                  <a:pt x="0" y="0"/>
                </a:moveTo>
                <a:lnTo>
                  <a:pt x="859839" y="0"/>
                </a:lnTo>
                <a:lnTo>
                  <a:pt x="859839" y="639720"/>
                </a:lnTo>
                <a:lnTo>
                  <a:pt x="0" y="639720"/>
                </a:lnTo>
                <a:lnTo>
                  <a:pt x="0" y="0"/>
                </a:lnTo>
                <a:close/>
              </a:path>
            </a:pathLst>
          </a:custGeom>
          <a:blipFill>
            <a:blip r:embed="rId12"/>
            <a:stretch>
              <a:fillRect l="0" t="0" r="0" b="0"/>
            </a:stretch>
          </a:blipFill>
        </p:spPr>
      </p:sp>
      <p:sp>
        <p:nvSpPr>
          <p:cNvPr name="Freeform 11" id="11"/>
          <p:cNvSpPr/>
          <p:nvPr/>
        </p:nvSpPr>
        <p:spPr>
          <a:xfrm flipH="false" flipV="false" rot="0">
            <a:off x="10782394" y="7161772"/>
            <a:ext cx="575781" cy="717840"/>
          </a:xfrm>
          <a:custGeom>
            <a:avLst/>
            <a:gdLst/>
            <a:ahLst/>
            <a:cxnLst/>
            <a:rect r="r" b="b" t="t" l="l"/>
            <a:pathLst>
              <a:path h="717840" w="575781">
                <a:moveTo>
                  <a:pt x="0" y="0"/>
                </a:moveTo>
                <a:lnTo>
                  <a:pt x="575780" y="0"/>
                </a:lnTo>
                <a:lnTo>
                  <a:pt x="575780" y="717840"/>
                </a:lnTo>
                <a:lnTo>
                  <a:pt x="0" y="717840"/>
                </a:lnTo>
                <a:lnTo>
                  <a:pt x="0" y="0"/>
                </a:lnTo>
                <a:close/>
              </a:path>
            </a:pathLst>
          </a:custGeom>
          <a:blipFill>
            <a:blip r:embed="rId13"/>
            <a:stretch>
              <a:fillRect l="0" t="0" r="0" b="0"/>
            </a:stretch>
          </a:blipFill>
        </p:spPr>
      </p:sp>
      <p:sp>
        <p:nvSpPr>
          <p:cNvPr name="TextBox 12" id="12"/>
          <p:cNvSpPr txBox="true"/>
          <p:nvPr/>
        </p:nvSpPr>
        <p:spPr>
          <a:xfrm rot="0">
            <a:off x="14309741" y="834605"/>
            <a:ext cx="2623970"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Garet Bold"/>
                <a:ea typeface="Garet Bold"/>
                <a:cs typeface="Garet Bold"/>
                <a:sym typeface="Garet Bold"/>
                <a:rtl val="true"/>
              </a:rPr>
              <a:t>أنماط التصميم</a:t>
            </a:r>
          </a:p>
        </p:txBody>
      </p:sp>
      <p:sp>
        <p:nvSpPr>
          <p:cNvPr name="TextBox 13" id="13"/>
          <p:cNvSpPr txBox="true"/>
          <p:nvPr/>
        </p:nvSpPr>
        <p:spPr>
          <a:xfrm rot="0">
            <a:off x="12478720" y="4259216"/>
            <a:ext cx="3312542" cy="342406"/>
          </a:xfrm>
          <a:prstGeom prst="rect">
            <a:avLst/>
          </a:prstGeom>
        </p:spPr>
        <p:txBody>
          <a:bodyPr anchor="t" rtlCol="false" tIns="0" lIns="0" bIns="0" rIns="0">
            <a:spAutoFit/>
          </a:bodyPr>
          <a:lstStyle/>
          <a:p>
            <a:pPr algn="r" rtl="true" marL="0" indent="0" lvl="0">
              <a:lnSpc>
                <a:spcPts val="2792"/>
              </a:lnSpc>
            </a:pPr>
            <a:r>
              <a:rPr lang="en-US" b="true" sz="2198">
                <a:solidFill>
                  <a:srgbClr val="FFFFFF"/>
                </a:solidFill>
                <a:latin typeface="Proxima Nova Bold"/>
                <a:ea typeface="Proxima Nova Bold"/>
                <a:cs typeface="Proxima Nova Bold"/>
                <a:sym typeface="Proxima Nova Bold"/>
              </a:rPr>
              <a:t>GameComponent</a:t>
            </a:r>
          </a:p>
        </p:txBody>
      </p:sp>
      <p:sp>
        <p:nvSpPr>
          <p:cNvPr name="TextBox 14" id="14"/>
          <p:cNvSpPr txBox="true"/>
          <p:nvPr/>
        </p:nvSpPr>
        <p:spPr>
          <a:xfrm rot="0">
            <a:off x="12600624" y="6609157"/>
            <a:ext cx="3190639" cy="342406"/>
          </a:xfrm>
          <a:prstGeom prst="rect">
            <a:avLst/>
          </a:prstGeom>
        </p:spPr>
        <p:txBody>
          <a:bodyPr anchor="t" rtlCol="false" tIns="0" lIns="0" bIns="0" rIns="0">
            <a:spAutoFit/>
          </a:bodyPr>
          <a:lstStyle/>
          <a:p>
            <a:pPr algn="r" rtl="true" marL="0" indent="0" lvl="0">
              <a:lnSpc>
                <a:spcPts val="2792"/>
              </a:lnSpc>
            </a:pPr>
            <a:r>
              <a:rPr lang="en-US" b="true" sz="2198">
                <a:solidFill>
                  <a:srgbClr val="7ED957"/>
                </a:solidFill>
                <a:latin typeface="Proxima Nova Bold"/>
                <a:ea typeface="Proxima Nova Bold"/>
                <a:cs typeface="Proxima Nova Bold"/>
                <a:sym typeface="Proxima Nova Bold"/>
              </a:rPr>
              <a:t>GameLeaf</a:t>
            </a:r>
          </a:p>
        </p:txBody>
      </p:sp>
      <p:sp>
        <p:nvSpPr>
          <p:cNvPr name="TextBox 15" id="15"/>
          <p:cNvSpPr txBox="true"/>
          <p:nvPr/>
        </p:nvSpPr>
        <p:spPr>
          <a:xfrm rot="0">
            <a:off x="7190043" y="4259216"/>
            <a:ext cx="3190639" cy="342406"/>
          </a:xfrm>
          <a:prstGeom prst="rect">
            <a:avLst/>
          </a:prstGeom>
        </p:spPr>
        <p:txBody>
          <a:bodyPr anchor="t" rtlCol="false" tIns="0" lIns="0" bIns="0" rIns="0">
            <a:spAutoFit/>
          </a:bodyPr>
          <a:lstStyle/>
          <a:p>
            <a:pPr algn="r" rtl="true" marL="0" indent="0" lvl="0">
              <a:lnSpc>
                <a:spcPts val="2792"/>
              </a:lnSpc>
            </a:pPr>
            <a:r>
              <a:rPr lang="en-US" b="true" sz="2198">
                <a:solidFill>
                  <a:srgbClr val="FFFFFF"/>
                </a:solidFill>
                <a:latin typeface="Proxima Nova Bold"/>
                <a:ea typeface="Proxima Nova Bold"/>
                <a:cs typeface="Proxima Nova Bold"/>
                <a:sym typeface="Proxima Nova Bold"/>
              </a:rPr>
              <a:t>GameGroup</a:t>
            </a:r>
          </a:p>
        </p:txBody>
      </p:sp>
      <p:sp>
        <p:nvSpPr>
          <p:cNvPr name="TextBox 16" id="16"/>
          <p:cNvSpPr txBox="true"/>
          <p:nvPr/>
        </p:nvSpPr>
        <p:spPr>
          <a:xfrm rot="0">
            <a:off x="7190043" y="6609157"/>
            <a:ext cx="3190639" cy="342406"/>
          </a:xfrm>
          <a:prstGeom prst="rect">
            <a:avLst/>
          </a:prstGeom>
        </p:spPr>
        <p:txBody>
          <a:bodyPr anchor="t" rtlCol="false" tIns="0" lIns="0" bIns="0" rIns="0">
            <a:spAutoFit/>
          </a:bodyPr>
          <a:lstStyle/>
          <a:p>
            <a:pPr algn="r" rtl="true" marL="0" indent="0" lvl="0">
              <a:lnSpc>
                <a:spcPts val="2792"/>
              </a:lnSpc>
            </a:pPr>
            <a:r>
              <a:rPr lang="en-US" b="true" sz="2198">
                <a:solidFill>
                  <a:srgbClr val="7ED957"/>
                </a:solidFill>
                <a:latin typeface="Proxima Nova Bold"/>
                <a:ea typeface="Proxima Nova Bold"/>
                <a:cs typeface="Proxima Nova Bold"/>
                <a:sym typeface="Proxima Nova Bold"/>
              </a:rPr>
              <a:t>GameObject</a:t>
            </a:r>
          </a:p>
        </p:txBody>
      </p:sp>
      <p:sp>
        <p:nvSpPr>
          <p:cNvPr name="TextBox 17" id="17"/>
          <p:cNvSpPr txBox="true"/>
          <p:nvPr/>
        </p:nvSpPr>
        <p:spPr>
          <a:xfrm rot="0">
            <a:off x="12295057" y="4873811"/>
            <a:ext cx="3496205" cy="898327"/>
          </a:xfrm>
          <a:prstGeom prst="rect">
            <a:avLst/>
          </a:prstGeom>
        </p:spPr>
        <p:txBody>
          <a:bodyPr anchor="t" rtlCol="false" tIns="0" lIns="0" bIns="0" rIns="0">
            <a:spAutoFit/>
          </a:bodyPr>
          <a:lstStyle/>
          <a:p>
            <a:pPr algn="r" rtl="true" marL="0" indent="0" lvl="0">
              <a:lnSpc>
                <a:spcPts val="2460"/>
              </a:lnSpc>
              <a:spcBef>
                <a:spcPct val="0"/>
              </a:spcBef>
            </a:pPr>
            <a:r>
              <a:rPr lang="ar-EG" sz="1757">
                <a:solidFill>
                  <a:srgbClr val="FFFFFF"/>
                </a:solidFill>
                <a:latin typeface="Open Sans"/>
                <a:ea typeface="Open Sans"/>
                <a:cs typeface="Open Sans"/>
                <a:sym typeface="Open Sans"/>
                <a:rtl val="true"/>
              </a:rPr>
              <a:t>الواجهة الموحدة للكائنات الفردية والمجموعات، تحدد عقد </a:t>
            </a:r>
            <a:r>
              <a:rPr lang="en-US" sz="1757">
                <a:solidFill>
                  <a:srgbClr val="FFFFFF"/>
                </a:solidFill>
                <a:latin typeface="Open Sans"/>
                <a:ea typeface="Open Sans"/>
                <a:cs typeface="Open Sans"/>
                <a:sym typeface="Open Sans"/>
              </a:rPr>
              <a:t>update</a:t>
            </a:r>
            <a:r>
              <a:rPr lang="ar-EG" sz="1757">
                <a:solidFill>
                  <a:srgbClr val="FFFFFF"/>
                </a:solidFill>
                <a:latin typeface="Open Sans"/>
                <a:ea typeface="Open Sans"/>
                <a:cs typeface="Open Sans"/>
                <a:sym typeface="Open Sans"/>
                <a:rtl val="true"/>
              </a:rPr>
              <a:t>() و </a:t>
            </a:r>
            <a:r>
              <a:rPr lang="en-US" sz="1757">
                <a:solidFill>
                  <a:srgbClr val="FFFFFF"/>
                </a:solidFill>
                <a:latin typeface="Open Sans"/>
                <a:ea typeface="Open Sans"/>
                <a:cs typeface="Open Sans"/>
                <a:sym typeface="Open Sans"/>
              </a:rPr>
              <a:t>render</a:t>
            </a:r>
            <a:r>
              <a:rPr lang="ar-EG" sz="1757">
                <a:solidFill>
                  <a:srgbClr val="FFFFFF"/>
                </a:solidFill>
                <a:latin typeface="Open Sans"/>
                <a:ea typeface="Open Sans"/>
                <a:cs typeface="Open Sans"/>
                <a:sym typeface="Open Sans"/>
                <a:rtl val="true"/>
              </a:rPr>
              <a:t>()</a:t>
            </a:r>
          </a:p>
        </p:txBody>
      </p:sp>
      <p:sp>
        <p:nvSpPr>
          <p:cNvPr name="TextBox 18" id="18"/>
          <p:cNvSpPr txBox="true"/>
          <p:nvPr/>
        </p:nvSpPr>
        <p:spPr>
          <a:xfrm rot="0">
            <a:off x="12295057" y="7223752"/>
            <a:ext cx="3496205" cy="898327"/>
          </a:xfrm>
          <a:prstGeom prst="rect">
            <a:avLst/>
          </a:prstGeom>
        </p:spPr>
        <p:txBody>
          <a:bodyPr anchor="t" rtlCol="false" tIns="0" lIns="0" bIns="0" rIns="0">
            <a:spAutoFit/>
          </a:bodyPr>
          <a:lstStyle/>
          <a:p>
            <a:pPr algn="r" rtl="true" marL="0" indent="0" lvl="0">
              <a:lnSpc>
                <a:spcPts val="2460"/>
              </a:lnSpc>
              <a:spcBef>
                <a:spcPct val="0"/>
              </a:spcBef>
            </a:pPr>
            <a:r>
              <a:rPr lang="ar-EG" sz="1757">
                <a:solidFill>
                  <a:srgbClr val="FFFFFF"/>
                </a:solidFill>
                <a:latin typeface="Open Sans"/>
                <a:ea typeface="Open Sans"/>
                <a:cs typeface="Open Sans"/>
                <a:sym typeface="Open Sans"/>
                <a:rtl val="true"/>
              </a:rPr>
              <a:t>يغلف كائن </a:t>
            </a:r>
            <a:r>
              <a:rPr lang="en-US" sz="1757">
                <a:solidFill>
                  <a:srgbClr val="FFFFFF"/>
                </a:solidFill>
                <a:latin typeface="Open Sans"/>
                <a:ea typeface="Open Sans"/>
                <a:cs typeface="Open Sans"/>
                <a:sym typeface="Open Sans"/>
              </a:rPr>
              <a:t>GameObject</a:t>
            </a:r>
            <a:r>
              <a:rPr lang="ar-EG" sz="1757">
                <a:solidFill>
                  <a:srgbClr val="FFFFFF"/>
                </a:solidFill>
                <a:latin typeface="Open Sans"/>
                <a:ea typeface="Open Sans"/>
                <a:cs typeface="Open Sans"/>
                <a:sym typeface="Open Sans"/>
                <a:rtl val="true"/>
              </a:rPr>
              <a:t> واحد، يفوض استدعاءات التحديث والرسم للكائن المغلف</a:t>
            </a:r>
          </a:p>
        </p:txBody>
      </p:sp>
      <p:sp>
        <p:nvSpPr>
          <p:cNvPr name="TextBox 19" id="19"/>
          <p:cNvSpPr txBox="true"/>
          <p:nvPr/>
        </p:nvSpPr>
        <p:spPr>
          <a:xfrm rot="0">
            <a:off x="6884477" y="4873811"/>
            <a:ext cx="3496205" cy="1203127"/>
          </a:xfrm>
          <a:prstGeom prst="rect">
            <a:avLst/>
          </a:prstGeom>
        </p:spPr>
        <p:txBody>
          <a:bodyPr anchor="t" rtlCol="false" tIns="0" lIns="0" bIns="0" rIns="0">
            <a:spAutoFit/>
          </a:bodyPr>
          <a:lstStyle/>
          <a:p>
            <a:pPr algn="r" rtl="true" marL="0" indent="0" lvl="0">
              <a:lnSpc>
                <a:spcPts val="2460"/>
              </a:lnSpc>
              <a:spcBef>
                <a:spcPct val="0"/>
              </a:spcBef>
            </a:pPr>
            <a:r>
              <a:rPr lang="ar-EG" sz="1757">
                <a:solidFill>
                  <a:srgbClr val="FFFFFF"/>
                </a:solidFill>
                <a:latin typeface="Open Sans"/>
                <a:ea typeface="Open Sans"/>
                <a:cs typeface="Open Sans"/>
                <a:sym typeface="Open Sans"/>
                <a:rtl val="true"/>
              </a:rPr>
              <a:t>يحتوي قائمة من </a:t>
            </a:r>
            <a:r>
              <a:rPr lang="en-US" sz="1757">
                <a:solidFill>
                  <a:srgbClr val="FFFFFF"/>
                </a:solidFill>
                <a:latin typeface="Open Sans"/>
                <a:ea typeface="Open Sans"/>
                <a:cs typeface="Open Sans"/>
                <a:sym typeface="Open Sans"/>
              </a:rPr>
              <a:t>GameComponent</a:t>
            </a:r>
            <a:r>
              <a:rPr lang="ar-EG" sz="1757">
                <a:solidFill>
                  <a:srgbClr val="FFFFFF"/>
                </a:solidFill>
                <a:latin typeface="Open Sans"/>
                <a:ea typeface="Open Sans"/>
                <a:cs typeface="Open Sans"/>
                <a:sym typeface="Open Sans"/>
                <a:rtl val="true"/>
              </a:rPr>
              <a:t>، يدير التكرار الهرمي على جميع الأبناء</a:t>
            </a:r>
          </a:p>
        </p:txBody>
      </p:sp>
      <p:sp>
        <p:nvSpPr>
          <p:cNvPr name="TextBox 20" id="20"/>
          <p:cNvSpPr txBox="true"/>
          <p:nvPr/>
        </p:nvSpPr>
        <p:spPr>
          <a:xfrm rot="0">
            <a:off x="6884477" y="7223752"/>
            <a:ext cx="3496205" cy="898327"/>
          </a:xfrm>
          <a:prstGeom prst="rect">
            <a:avLst/>
          </a:prstGeom>
        </p:spPr>
        <p:txBody>
          <a:bodyPr anchor="t" rtlCol="false" tIns="0" lIns="0" bIns="0" rIns="0">
            <a:spAutoFit/>
          </a:bodyPr>
          <a:lstStyle/>
          <a:p>
            <a:pPr algn="r" rtl="true" marL="0" indent="0" lvl="0">
              <a:lnSpc>
                <a:spcPts val="2460"/>
              </a:lnSpc>
              <a:spcBef>
                <a:spcPct val="0"/>
              </a:spcBef>
            </a:pPr>
            <a:r>
              <a:rPr lang="ar-EG" sz="1757">
                <a:solidFill>
                  <a:srgbClr val="FFFFFF"/>
                </a:solidFill>
                <a:latin typeface="Open Sans"/>
                <a:ea typeface="Open Sans"/>
                <a:cs typeface="Open Sans"/>
                <a:sym typeface="Open Sans"/>
                <a:rtl val="true"/>
              </a:rPr>
              <a:t>القاعدة المجردة لكل كائنات اللعبة مثل </a:t>
            </a:r>
            <a:r>
              <a:rPr lang="en-US" sz="1757">
                <a:solidFill>
                  <a:srgbClr val="FFFFFF"/>
                </a:solidFill>
                <a:latin typeface="Open Sans"/>
                <a:ea typeface="Open Sans"/>
                <a:cs typeface="Open Sans"/>
                <a:sym typeface="Open Sans"/>
              </a:rPr>
              <a:t>Player</a:t>
            </a:r>
            <a:r>
              <a:rPr lang="ar-EG" sz="1757">
                <a:solidFill>
                  <a:srgbClr val="FFFFFF"/>
                </a:solidFill>
                <a:latin typeface="Open Sans"/>
                <a:ea typeface="Open Sans"/>
                <a:cs typeface="Open Sans"/>
                <a:sym typeface="Open Sans"/>
                <a:rtl val="true"/>
              </a:rPr>
              <a:t> و </a:t>
            </a:r>
            <a:r>
              <a:rPr lang="en-US" sz="1757">
                <a:solidFill>
                  <a:srgbClr val="FFFFFF"/>
                </a:solidFill>
                <a:latin typeface="Open Sans"/>
                <a:ea typeface="Open Sans"/>
                <a:cs typeface="Open Sans"/>
                <a:sym typeface="Open Sans"/>
              </a:rPr>
              <a:t>Enemy</a:t>
            </a:r>
            <a:r>
              <a:rPr lang="ar-EG" sz="1757">
                <a:solidFill>
                  <a:srgbClr val="FFFFFF"/>
                </a:solidFill>
                <a:latin typeface="Open Sans"/>
                <a:ea typeface="Open Sans"/>
                <a:cs typeface="Open Sans"/>
                <a:sym typeface="Open Sans"/>
                <a:rtl val="true"/>
              </a:rPr>
              <a:t> و </a:t>
            </a:r>
            <a:r>
              <a:rPr lang="en-US" sz="1757">
                <a:solidFill>
                  <a:srgbClr val="FFFFFF"/>
                </a:solidFill>
                <a:latin typeface="Open Sans"/>
                <a:ea typeface="Open Sans"/>
                <a:cs typeface="Open Sans"/>
                <a:sym typeface="Open Sans"/>
              </a:rPr>
              <a:t>Crate</a:t>
            </a:r>
          </a:p>
        </p:txBody>
      </p:sp>
      <p:grpSp>
        <p:nvGrpSpPr>
          <p:cNvPr name="Group 21" id="21"/>
          <p:cNvGrpSpPr/>
          <p:nvPr/>
        </p:nvGrpSpPr>
        <p:grpSpPr>
          <a:xfrm rot="0">
            <a:off x="131670" y="2026512"/>
            <a:ext cx="7463032" cy="6197280"/>
            <a:chOff x="0" y="0"/>
            <a:chExt cx="1288785" cy="1070204"/>
          </a:xfrm>
        </p:grpSpPr>
        <p:sp>
          <p:nvSpPr>
            <p:cNvPr name="Freeform 22" id="22"/>
            <p:cNvSpPr/>
            <p:nvPr/>
          </p:nvSpPr>
          <p:spPr>
            <a:xfrm flipH="false" flipV="false" rot="0">
              <a:off x="0" y="0"/>
              <a:ext cx="1288785" cy="1070204"/>
            </a:xfrm>
            <a:custGeom>
              <a:avLst/>
              <a:gdLst/>
              <a:ahLst/>
              <a:cxnLst/>
              <a:rect r="r" b="b" t="t" l="l"/>
              <a:pathLst>
                <a:path h="1070204" w="1288785">
                  <a:moveTo>
                    <a:pt x="1257664" y="0"/>
                  </a:moveTo>
                  <a:lnTo>
                    <a:pt x="31121" y="0"/>
                  </a:lnTo>
                  <a:cubicBezTo>
                    <a:pt x="13933" y="0"/>
                    <a:pt x="0" y="13933"/>
                    <a:pt x="0" y="31121"/>
                  </a:cubicBezTo>
                  <a:lnTo>
                    <a:pt x="0" y="1039083"/>
                  </a:lnTo>
                  <a:cubicBezTo>
                    <a:pt x="0" y="1056270"/>
                    <a:pt x="13933" y="1070204"/>
                    <a:pt x="31121" y="1070204"/>
                  </a:cubicBezTo>
                  <a:lnTo>
                    <a:pt x="1257664" y="1070204"/>
                  </a:lnTo>
                  <a:cubicBezTo>
                    <a:pt x="1274852" y="1070204"/>
                    <a:pt x="1288785" y="1056270"/>
                    <a:pt x="1288785" y="1039083"/>
                  </a:cubicBezTo>
                  <a:lnTo>
                    <a:pt x="1288785" y="31121"/>
                  </a:lnTo>
                  <a:cubicBezTo>
                    <a:pt x="1288785" y="13933"/>
                    <a:pt x="1274852" y="0"/>
                    <a:pt x="1257664" y="0"/>
                  </a:cubicBezTo>
                  <a:close/>
                </a:path>
              </a:pathLst>
            </a:custGeom>
            <a:blipFill>
              <a:blip r:embed="rId14"/>
              <a:stretch>
                <a:fillRect l="-737" t="0" r="-737" b="0"/>
              </a:stretch>
            </a:blipFill>
            <a:ln w="95250" cap="rnd">
              <a:solidFill>
                <a:srgbClr val="7ED957"/>
              </a:solidFill>
              <a:prstDash val="solid"/>
              <a:round/>
            </a:ln>
          </p:spPr>
        </p:sp>
      </p:grpSp>
      <p:sp>
        <p:nvSpPr>
          <p:cNvPr name="TextBox 23" id="23"/>
          <p:cNvSpPr txBox="true"/>
          <p:nvPr/>
        </p:nvSpPr>
        <p:spPr>
          <a:xfrm rot="0">
            <a:off x="8302673" y="1755040"/>
            <a:ext cx="8631038" cy="953235"/>
          </a:xfrm>
          <a:prstGeom prst="rect">
            <a:avLst/>
          </a:prstGeom>
        </p:spPr>
        <p:txBody>
          <a:bodyPr anchor="t" rtlCol="false" tIns="0" lIns="0" bIns="0" rIns="0">
            <a:spAutoFit/>
          </a:bodyPr>
          <a:lstStyle/>
          <a:p>
            <a:pPr algn="r" rtl="true" marL="0" indent="0" lvl="0">
              <a:lnSpc>
                <a:spcPts val="7834"/>
              </a:lnSpc>
              <a:spcBef>
                <a:spcPct val="0"/>
              </a:spcBef>
            </a:pPr>
            <a:r>
              <a:rPr lang="ar-EG" b="true" sz="5596">
                <a:solidFill>
                  <a:srgbClr val="FFFFFF"/>
                </a:solidFill>
                <a:latin typeface="Proxima Nova Bold"/>
                <a:ea typeface="Proxima Nova Bold"/>
                <a:cs typeface="Proxima Nova Bold"/>
                <a:sym typeface="Proxima Nova Bold"/>
                <a:rtl val="true"/>
              </a:rPr>
              <a:t>نمط </a:t>
            </a:r>
            <a:r>
              <a:rPr lang="en-US" b="true" sz="5596">
                <a:solidFill>
                  <a:srgbClr val="FFFFFF"/>
                </a:solidFill>
                <a:latin typeface="Proxima Nova Bold"/>
                <a:ea typeface="Proxima Nova Bold"/>
                <a:cs typeface="Proxima Nova Bold"/>
                <a:sym typeface="Proxima Nova Bold"/>
              </a:rPr>
              <a:t>Composite</a:t>
            </a:r>
          </a:p>
        </p:txBody>
      </p:sp>
      <p:sp>
        <p:nvSpPr>
          <p:cNvPr name="TextBox 24" id="24"/>
          <p:cNvSpPr txBox="true"/>
          <p:nvPr/>
        </p:nvSpPr>
        <p:spPr>
          <a:xfrm rot="0">
            <a:off x="8156676" y="2821148"/>
            <a:ext cx="8777034" cy="953235"/>
          </a:xfrm>
          <a:prstGeom prst="rect">
            <a:avLst/>
          </a:prstGeom>
        </p:spPr>
        <p:txBody>
          <a:bodyPr anchor="t" rtlCol="false" tIns="0" lIns="0" bIns="0" rIns="0">
            <a:spAutoFit/>
          </a:bodyPr>
          <a:lstStyle/>
          <a:p>
            <a:pPr algn="r" rtl="true" marL="0" indent="0" lvl="0">
              <a:lnSpc>
                <a:spcPts val="7834"/>
              </a:lnSpc>
              <a:spcBef>
                <a:spcPct val="0"/>
              </a:spcBef>
            </a:pPr>
            <a:r>
              <a:rPr lang="ar-EG" b="true" sz="5596">
                <a:solidFill>
                  <a:srgbClr val="7ED957"/>
                </a:solidFill>
                <a:latin typeface="Proxima Nova Bold"/>
                <a:ea typeface="Proxima Nova Bold"/>
                <a:cs typeface="Proxima Nova Bold"/>
                <a:sym typeface="Proxima Nova Bold"/>
                <a:rtl val="true"/>
              </a:rPr>
              <a:t>شرح الكلاسات</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grpSp>
        <p:nvGrpSpPr>
          <p:cNvPr name="Group 2" id="2"/>
          <p:cNvGrpSpPr/>
          <p:nvPr/>
        </p:nvGrpSpPr>
        <p:grpSpPr>
          <a:xfrm rot="0">
            <a:off x="9304193" y="199963"/>
            <a:ext cx="7955107" cy="8848786"/>
            <a:chOff x="0" y="0"/>
            <a:chExt cx="2821476" cy="3138441"/>
          </a:xfrm>
        </p:grpSpPr>
        <p:sp>
          <p:nvSpPr>
            <p:cNvPr name="Freeform 3" id="3"/>
            <p:cNvSpPr/>
            <p:nvPr/>
          </p:nvSpPr>
          <p:spPr>
            <a:xfrm flipH="false" flipV="false" rot="0">
              <a:off x="0" y="0"/>
              <a:ext cx="2821476" cy="3138441"/>
            </a:xfrm>
            <a:custGeom>
              <a:avLst/>
              <a:gdLst/>
              <a:ahLst/>
              <a:cxnLst/>
              <a:rect r="r" b="b" t="t" l="l"/>
              <a:pathLst>
                <a:path h="3138441" w="2821476">
                  <a:moveTo>
                    <a:pt x="2792280" y="0"/>
                  </a:moveTo>
                  <a:lnTo>
                    <a:pt x="29196" y="0"/>
                  </a:lnTo>
                  <a:cubicBezTo>
                    <a:pt x="21453" y="0"/>
                    <a:pt x="14027" y="3076"/>
                    <a:pt x="8551" y="8551"/>
                  </a:cubicBezTo>
                  <a:cubicBezTo>
                    <a:pt x="3076" y="14027"/>
                    <a:pt x="0" y="21453"/>
                    <a:pt x="0" y="29196"/>
                  </a:cubicBezTo>
                  <a:lnTo>
                    <a:pt x="0" y="3109245"/>
                  </a:lnTo>
                  <a:cubicBezTo>
                    <a:pt x="0" y="3116989"/>
                    <a:pt x="3076" y="3124415"/>
                    <a:pt x="8551" y="3129890"/>
                  </a:cubicBezTo>
                  <a:cubicBezTo>
                    <a:pt x="14027" y="3135365"/>
                    <a:pt x="21453" y="3138441"/>
                    <a:pt x="29196" y="3138441"/>
                  </a:cubicBezTo>
                  <a:lnTo>
                    <a:pt x="2792280" y="3138441"/>
                  </a:lnTo>
                  <a:cubicBezTo>
                    <a:pt x="2800023" y="3138441"/>
                    <a:pt x="2807449" y="3135365"/>
                    <a:pt x="2812924" y="3129890"/>
                  </a:cubicBezTo>
                  <a:cubicBezTo>
                    <a:pt x="2818400" y="3124415"/>
                    <a:pt x="2821476" y="3116989"/>
                    <a:pt x="2821476" y="3109245"/>
                  </a:cubicBezTo>
                  <a:lnTo>
                    <a:pt x="2821476" y="29196"/>
                  </a:lnTo>
                  <a:cubicBezTo>
                    <a:pt x="2821476" y="21453"/>
                    <a:pt x="2818400" y="14027"/>
                    <a:pt x="2812924" y="8551"/>
                  </a:cubicBezTo>
                  <a:cubicBezTo>
                    <a:pt x="2807449" y="3076"/>
                    <a:pt x="2800023" y="0"/>
                    <a:pt x="2792280" y="0"/>
                  </a:cubicBezTo>
                  <a:close/>
                </a:path>
              </a:pathLst>
            </a:custGeom>
            <a:blipFill>
              <a:blip r:embed="rId2"/>
              <a:stretch>
                <a:fillRect l="-5617" t="0" r="-5617" b="0"/>
              </a:stretch>
            </a:blipFill>
            <a:ln w="95250" cap="rnd">
              <a:solidFill>
                <a:srgbClr val="7ED957"/>
              </a:solidFill>
              <a:prstDash val="solid"/>
              <a:round/>
            </a:ln>
          </p:spPr>
        </p:sp>
      </p:grpSp>
      <p:sp>
        <p:nvSpPr>
          <p:cNvPr name="AutoShape 4" id="4"/>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5" id="5"/>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5400000">
            <a:off x="493806" y="7026853"/>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5400000">
            <a:off x="17721031" y="1866218"/>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370671" y="2365005"/>
            <a:ext cx="5919534" cy="962660"/>
          </a:xfrm>
          <a:prstGeom prst="rect">
            <a:avLst/>
          </a:prstGeom>
        </p:spPr>
        <p:txBody>
          <a:bodyPr anchor="t" rtlCol="false" tIns="0" lIns="0" bIns="0" rIns="0">
            <a:spAutoFit/>
          </a:bodyPr>
          <a:lstStyle/>
          <a:p>
            <a:pPr algn="r" rtl="true" marL="0" indent="0" lvl="0">
              <a:lnSpc>
                <a:spcPts val="7840"/>
              </a:lnSpc>
              <a:spcBef>
                <a:spcPct val="0"/>
              </a:spcBef>
            </a:pPr>
            <a:r>
              <a:rPr lang="ar-EG" b="true" sz="5600">
                <a:solidFill>
                  <a:srgbClr val="FFFFFF"/>
                </a:solidFill>
                <a:latin typeface="Proxima Nova Bold"/>
                <a:ea typeface="Proxima Nova Bold"/>
                <a:cs typeface="Proxima Nova Bold"/>
                <a:sym typeface="Proxima Nova Bold"/>
                <a:rtl val="true"/>
              </a:rPr>
              <a:t>نمط </a:t>
            </a:r>
            <a:r>
              <a:rPr lang="en-US" b="true" sz="5600">
                <a:solidFill>
                  <a:srgbClr val="FFFFFF"/>
                </a:solidFill>
                <a:latin typeface="Proxima Nova Bold"/>
                <a:ea typeface="Proxima Nova Bold"/>
                <a:cs typeface="Proxima Nova Bold"/>
                <a:sym typeface="Proxima Nova Bold"/>
              </a:rPr>
              <a:t>Composite</a:t>
            </a:r>
          </a:p>
        </p:txBody>
      </p:sp>
      <p:sp>
        <p:nvSpPr>
          <p:cNvPr name="TextBox 10" id="10"/>
          <p:cNvSpPr txBox="true"/>
          <p:nvPr/>
        </p:nvSpPr>
        <p:spPr>
          <a:xfrm rot="0">
            <a:off x="2370671" y="3242754"/>
            <a:ext cx="5919534" cy="962660"/>
          </a:xfrm>
          <a:prstGeom prst="rect">
            <a:avLst/>
          </a:prstGeom>
        </p:spPr>
        <p:txBody>
          <a:bodyPr anchor="t" rtlCol="false" tIns="0" lIns="0" bIns="0" rIns="0">
            <a:spAutoFit/>
          </a:bodyPr>
          <a:lstStyle/>
          <a:p>
            <a:pPr algn="r" rtl="true" marL="0" indent="0" lvl="0">
              <a:lnSpc>
                <a:spcPts val="7840"/>
              </a:lnSpc>
              <a:spcBef>
                <a:spcPct val="0"/>
              </a:spcBef>
            </a:pPr>
            <a:r>
              <a:rPr lang="ar-EG" b="true" sz="5600">
                <a:solidFill>
                  <a:srgbClr val="7ED957"/>
                </a:solidFill>
                <a:latin typeface="Proxima Nova Bold"/>
                <a:ea typeface="Proxima Nova Bold"/>
                <a:cs typeface="Proxima Nova Bold"/>
                <a:sym typeface="Proxima Nova Bold"/>
                <a:rtl val="true"/>
              </a:rPr>
              <a:t>سؤال جواب</a:t>
            </a:r>
          </a:p>
        </p:txBody>
      </p:sp>
      <p:sp>
        <p:nvSpPr>
          <p:cNvPr name="TextBox 11" id="11"/>
          <p:cNvSpPr txBox="true"/>
          <p:nvPr/>
        </p:nvSpPr>
        <p:spPr>
          <a:xfrm rot="0">
            <a:off x="2047139" y="5267059"/>
            <a:ext cx="6243066" cy="1054100"/>
          </a:xfrm>
          <a:prstGeom prst="rect">
            <a:avLst/>
          </a:prstGeom>
        </p:spPr>
        <p:txBody>
          <a:bodyPr anchor="t" rtlCol="false" tIns="0" lIns="0" bIns="0" rIns="0">
            <a:spAutoFit/>
          </a:bodyPr>
          <a:lstStyle/>
          <a:p>
            <a:pPr algn="r" rtl="true" marL="0" indent="0" lvl="0">
              <a:lnSpc>
                <a:spcPts val="2800"/>
              </a:lnSpc>
              <a:spcBef>
                <a:spcPct val="0"/>
              </a:spcBef>
            </a:pPr>
            <a:r>
              <a:rPr lang="ar-EG" sz="2000">
                <a:solidFill>
                  <a:srgbClr val="FFFFFF"/>
                </a:solidFill>
                <a:latin typeface="Open Sans"/>
                <a:ea typeface="Open Sans"/>
                <a:cs typeface="Open Sans"/>
                <a:sym typeface="Open Sans"/>
                <a:rtl val="true"/>
              </a:rPr>
              <a:t>القائمة المسطحة تجبر المستدعي على معرفة المحتوى والتكرار يدوياً، بينما </a:t>
            </a:r>
            <a:r>
              <a:rPr lang="en-US" sz="2000">
                <a:solidFill>
                  <a:srgbClr val="FFFFFF"/>
                </a:solidFill>
                <a:latin typeface="Open Sans"/>
                <a:ea typeface="Open Sans"/>
                <a:cs typeface="Open Sans"/>
                <a:sym typeface="Open Sans"/>
              </a:rPr>
              <a:t>Composite</a:t>
            </a:r>
            <a:r>
              <a:rPr lang="ar-EG" sz="2000">
                <a:solidFill>
                  <a:srgbClr val="FFFFFF"/>
                </a:solidFill>
                <a:latin typeface="Open Sans"/>
                <a:ea typeface="Open Sans"/>
                <a:cs typeface="Open Sans"/>
                <a:sym typeface="Open Sans"/>
                <a:rtl val="true"/>
              </a:rPr>
              <a:t> يسمح بالتجميع الهرمي والتعامل الموحد</a:t>
            </a:r>
          </a:p>
        </p:txBody>
      </p:sp>
      <p:sp>
        <p:nvSpPr>
          <p:cNvPr name="TextBox 12" id="12"/>
          <p:cNvSpPr txBox="true"/>
          <p:nvPr/>
        </p:nvSpPr>
        <p:spPr>
          <a:xfrm rot="0">
            <a:off x="2047139" y="6753595"/>
            <a:ext cx="6243066" cy="1054100"/>
          </a:xfrm>
          <a:prstGeom prst="rect">
            <a:avLst/>
          </a:prstGeom>
        </p:spPr>
        <p:txBody>
          <a:bodyPr anchor="t" rtlCol="false" tIns="0" lIns="0" bIns="0" rIns="0">
            <a:spAutoFit/>
          </a:bodyPr>
          <a:lstStyle/>
          <a:p>
            <a:pPr algn="r" rtl="true" marL="0" indent="0" lvl="0">
              <a:lnSpc>
                <a:spcPts val="2800"/>
              </a:lnSpc>
              <a:spcBef>
                <a:spcPct val="0"/>
              </a:spcBef>
            </a:pPr>
            <a:r>
              <a:rPr lang="ar-EG" sz="2000">
                <a:solidFill>
                  <a:srgbClr val="FFFFFF"/>
                </a:solidFill>
                <a:latin typeface="Open Sans"/>
                <a:ea typeface="Open Sans"/>
                <a:cs typeface="Open Sans"/>
                <a:sym typeface="Open Sans"/>
                <a:rtl val="true"/>
              </a:rPr>
              <a:t>هذا يسهل التوسع ويقلل التعديل في حلقة اللعبة، مما يجعل إضافة مجموعات جديدة أمراً بسيطاً دون تغيير الكود الأساسي</a:t>
            </a:r>
          </a:p>
        </p:txBody>
      </p:sp>
      <p:sp>
        <p:nvSpPr>
          <p:cNvPr name="TextBox 13" id="13"/>
          <p:cNvSpPr txBox="true"/>
          <p:nvPr/>
        </p:nvSpPr>
        <p:spPr>
          <a:xfrm rot="0">
            <a:off x="3445439" y="4505701"/>
            <a:ext cx="4861603" cy="342392"/>
          </a:xfrm>
          <a:prstGeom prst="rect">
            <a:avLst/>
          </a:prstGeom>
        </p:spPr>
        <p:txBody>
          <a:bodyPr anchor="t" rtlCol="false" tIns="0" lIns="0" bIns="0" rIns="0">
            <a:spAutoFit/>
          </a:bodyPr>
          <a:lstStyle/>
          <a:p>
            <a:pPr algn="r" rtl="true" marL="0" indent="0" lvl="0">
              <a:lnSpc>
                <a:spcPts val="2794"/>
              </a:lnSpc>
            </a:pPr>
            <a:r>
              <a:rPr lang="ar-EG" b="true" sz="2200">
                <a:solidFill>
                  <a:srgbClr val="FFFFFF"/>
                </a:solidFill>
                <a:latin typeface="Proxima Nova Bold"/>
                <a:ea typeface="Proxima Nova Bold"/>
                <a:cs typeface="Proxima Nova Bold"/>
                <a:sym typeface="Proxima Nova Bold"/>
                <a:rtl val="true"/>
              </a:rPr>
              <a:t>سؤال: أليس هذا مجرد قائمة؟</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sp>
        <p:nvSpPr>
          <p:cNvPr name="AutoShape 2" id="2"/>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3" id="3"/>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082153" y="833522"/>
            <a:ext cx="354294" cy="390407"/>
          </a:xfrm>
          <a:custGeom>
            <a:avLst/>
            <a:gdLst/>
            <a:ahLst/>
            <a:cxnLst/>
            <a:rect r="r" b="b" t="t" l="l"/>
            <a:pathLst>
              <a:path h="390407" w="354294">
                <a:moveTo>
                  <a:pt x="354294" y="0"/>
                </a:moveTo>
                <a:lnTo>
                  <a:pt x="0" y="0"/>
                </a:lnTo>
                <a:lnTo>
                  <a:pt x="0" y="390406"/>
                </a:lnTo>
                <a:lnTo>
                  <a:pt x="354294" y="390406"/>
                </a:lnTo>
                <a:lnTo>
                  <a:pt x="3542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16197258" y="2178835"/>
            <a:ext cx="388512" cy="273414"/>
          </a:xfrm>
          <a:custGeom>
            <a:avLst/>
            <a:gdLst/>
            <a:ahLst/>
            <a:cxnLst/>
            <a:rect r="r" b="b" t="t" l="l"/>
            <a:pathLst>
              <a:path h="273414" w="388512">
                <a:moveTo>
                  <a:pt x="388512" y="0"/>
                </a:moveTo>
                <a:lnTo>
                  <a:pt x="0" y="0"/>
                </a:lnTo>
                <a:lnTo>
                  <a:pt x="0" y="273415"/>
                </a:lnTo>
                <a:lnTo>
                  <a:pt x="388512" y="273415"/>
                </a:lnTo>
                <a:lnTo>
                  <a:pt x="38851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0">
            <a:off x="16197258" y="4430129"/>
            <a:ext cx="388512" cy="273414"/>
          </a:xfrm>
          <a:custGeom>
            <a:avLst/>
            <a:gdLst/>
            <a:ahLst/>
            <a:cxnLst/>
            <a:rect r="r" b="b" t="t" l="l"/>
            <a:pathLst>
              <a:path h="273414" w="388512">
                <a:moveTo>
                  <a:pt x="388512" y="0"/>
                </a:moveTo>
                <a:lnTo>
                  <a:pt x="0" y="0"/>
                </a:lnTo>
                <a:lnTo>
                  <a:pt x="0" y="273414"/>
                </a:lnTo>
                <a:lnTo>
                  <a:pt x="388512" y="273414"/>
                </a:lnTo>
                <a:lnTo>
                  <a:pt x="38851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0">
            <a:off x="16197258" y="6745165"/>
            <a:ext cx="388512" cy="273414"/>
          </a:xfrm>
          <a:custGeom>
            <a:avLst/>
            <a:gdLst/>
            <a:ahLst/>
            <a:cxnLst/>
            <a:rect r="r" b="b" t="t" l="l"/>
            <a:pathLst>
              <a:path h="273414" w="388512">
                <a:moveTo>
                  <a:pt x="388512" y="0"/>
                </a:moveTo>
                <a:lnTo>
                  <a:pt x="0" y="0"/>
                </a:lnTo>
                <a:lnTo>
                  <a:pt x="0" y="273414"/>
                </a:lnTo>
                <a:lnTo>
                  <a:pt x="388512" y="273414"/>
                </a:lnTo>
                <a:lnTo>
                  <a:pt x="388512"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4191260" y="982684"/>
            <a:ext cx="4311510" cy="4152350"/>
            <a:chOff x="0" y="0"/>
            <a:chExt cx="1049755" cy="1011003"/>
          </a:xfrm>
        </p:grpSpPr>
        <p:sp>
          <p:nvSpPr>
            <p:cNvPr name="Freeform 10" id="10"/>
            <p:cNvSpPr/>
            <p:nvPr/>
          </p:nvSpPr>
          <p:spPr>
            <a:xfrm flipH="false" flipV="false" rot="0">
              <a:off x="0" y="0"/>
              <a:ext cx="1049755" cy="1011003"/>
            </a:xfrm>
            <a:custGeom>
              <a:avLst/>
              <a:gdLst/>
              <a:ahLst/>
              <a:cxnLst/>
              <a:rect r="r" b="b" t="t" l="l"/>
              <a:pathLst>
                <a:path h="1011003" w="1049755">
                  <a:moveTo>
                    <a:pt x="995886" y="0"/>
                  </a:moveTo>
                  <a:lnTo>
                    <a:pt x="53869" y="0"/>
                  </a:lnTo>
                  <a:cubicBezTo>
                    <a:pt x="24118" y="0"/>
                    <a:pt x="0" y="24118"/>
                    <a:pt x="0" y="53869"/>
                  </a:cubicBezTo>
                  <a:lnTo>
                    <a:pt x="0" y="957134"/>
                  </a:lnTo>
                  <a:cubicBezTo>
                    <a:pt x="0" y="971421"/>
                    <a:pt x="5675" y="985123"/>
                    <a:pt x="15778" y="995225"/>
                  </a:cubicBezTo>
                  <a:cubicBezTo>
                    <a:pt x="25880" y="1005327"/>
                    <a:pt x="39582" y="1011003"/>
                    <a:pt x="53869" y="1011003"/>
                  </a:cubicBezTo>
                  <a:lnTo>
                    <a:pt x="995886" y="1011003"/>
                  </a:lnTo>
                  <a:cubicBezTo>
                    <a:pt x="1025637" y="1011003"/>
                    <a:pt x="1049755" y="986885"/>
                    <a:pt x="1049755" y="957134"/>
                  </a:cubicBezTo>
                  <a:lnTo>
                    <a:pt x="1049755" y="53869"/>
                  </a:lnTo>
                  <a:cubicBezTo>
                    <a:pt x="1049755" y="39582"/>
                    <a:pt x="1044079" y="25880"/>
                    <a:pt x="1033977" y="15778"/>
                  </a:cubicBezTo>
                  <a:cubicBezTo>
                    <a:pt x="1023874" y="5675"/>
                    <a:pt x="1010173" y="0"/>
                    <a:pt x="995886" y="0"/>
                  </a:cubicBezTo>
                  <a:close/>
                </a:path>
              </a:pathLst>
            </a:custGeom>
            <a:blipFill>
              <a:blip r:embed="rId10"/>
              <a:stretch>
                <a:fillRect l="0" t="-1916" r="0" b="-1916"/>
              </a:stretch>
            </a:blipFill>
            <a:ln w="95250" cap="rnd">
              <a:solidFill>
                <a:srgbClr val="7ED957"/>
              </a:solidFill>
              <a:prstDash val="solid"/>
              <a:round/>
            </a:ln>
          </p:spPr>
        </p:sp>
      </p:grpSp>
      <p:sp>
        <p:nvSpPr>
          <p:cNvPr name="Freeform 11" id="11"/>
          <p:cNvSpPr/>
          <p:nvPr/>
        </p:nvSpPr>
        <p:spPr>
          <a:xfrm flipH="true" flipV="false" rot="5400000">
            <a:off x="461731" y="2478156"/>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true" flipV="false" rot="5400000">
            <a:off x="17721031" y="6952897"/>
            <a:ext cx="1133938" cy="599570"/>
          </a:xfrm>
          <a:custGeom>
            <a:avLst/>
            <a:gdLst/>
            <a:ahLst/>
            <a:cxnLst/>
            <a:rect r="r" b="b" t="t" l="l"/>
            <a:pathLst>
              <a:path h="599570" w="1133938">
                <a:moveTo>
                  <a:pt x="1133938" y="0"/>
                </a:moveTo>
                <a:lnTo>
                  <a:pt x="0" y="0"/>
                </a:lnTo>
                <a:lnTo>
                  <a:pt x="0" y="599569"/>
                </a:lnTo>
                <a:lnTo>
                  <a:pt x="1133938" y="599569"/>
                </a:lnTo>
                <a:lnTo>
                  <a:pt x="113393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14309741" y="834605"/>
            <a:ext cx="2623970"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Garet Bold"/>
                <a:ea typeface="Garet Bold"/>
                <a:cs typeface="Garet Bold"/>
                <a:sym typeface="Garet Bold"/>
                <a:rtl val="true"/>
              </a:rPr>
              <a:t>أنماط التصميم</a:t>
            </a:r>
          </a:p>
        </p:txBody>
      </p:sp>
      <p:sp>
        <p:nvSpPr>
          <p:cNvPr name="TextBox 14" id="14"/>
          <p:cNvSpPr txBox="true"/>
          <p:nvPr/>
        </p:nvSpPr>
        <p:spPr>
          <a:xfrm rot="0">
            <a:off x="10174604" y="2109858"/>
            <a:ext cx="5615323"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Proxima Nova Bold"/>
                <a:ea typeface="Proxima Nova Bold"/>
                <a:cs typeface="Proxima Nova Bold"/>
                <a:sym typeface="Proxima Nova Bold"/>
                <a:rtl val="true"/>
              </a:rPr>
              <a:t>إطلاق ردود فعل متعددة عند حدث واحد</a:t>
            </a:r>
          </a:p>
        </p:txBody>
      </p:sp>
      <p:sp>
        <p:nvSpPr>
          <p:cNvPr name="TextBox 15" id="15"/>
          <p:cNvSpPr txBox="true"/>
          <p:nvPr/>
        </p:nvSpPr>
        <p:spPr>
          <a:xfrm rot="0">
            <a:off x="8940919" y="4361151"/>
            <a:ext cx="6849008"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Proxima Nova Bold"/>
                <a:ea typeface="Proxima Nova Bold"/>
                <a:cs typeface="Proxima Nova Bold"/>
                <a:sym typeface="Proxima Nova Bold"/>
                <a:rtl val="true"/>
              </a:rPr>
              <a:t>تجنب اقتران </a:t>
            </a:r>
            <a:r>
              <a:rPr lang="en-US" b="true" sz="2198">
                <a:solidFill>
                  <a:srgbClr val="FFFFFF"/>
                </a:solidFill>
                <a:latin typeface="Proxima Nova Bold"/>
                <a:ea typeface="Proxima Nova Bold"/>
                <a:cs typeface="Proxima Nova Bold"/>
                <a:sym typeface="Proxima Nova Bold"/>
              </a:rPr>
              <a:t>Player</a:t>
            </a:r>
            <a:r>
              <a:rPr lang="ar-EG" b="true" sz="2198">
                <a:solidFill>
                  <a:srgbClr val="FFFFFF"/>
                </a:solidFill>
                <a:latin typeface="Proxima Nova Bold"/>
                <a:ea typeface="Proxima Nova Bold"/>
                <a:cs typeface="Proxima Nova Bold"/>
                <a:sym typeface="Proxima Nova Bold"/>
                <a:rtl val="true"/>
              </a:rPr>
              <a:t> بالمكونات الأخرى</a:t>
            </a:r>
          </a:p>
        </p:txBody>
      </p:sp>
      <p:sp>
        <p:nvSpPr>
          <p:cNvPr name="TextBox 16" id="16"/>
          <p:cNvSpPr txBox="true"/>
          <p:nvPr/>
        </p:nvSpPr>
        <p:spPr>
          <a:xfrm rot="0">
            <a:off x="9433729" y="6676187"/>
            <a:ext cx="6356198"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Proxima Nova Bold"/>
                <a:ea typeface="Proxima Nova Bold"/>
                <a:cs typeface="Proxima Nova Bold"/>
                <a:sym typeface="Proxima Nova Bold"/>
                <a:rtl val="true"/>
              </a:rPr>
              <a:t>فصل مصدر الحدث عن ردود الفعل</a:t>
            </a:r>
          </a:p>
        </p:txBody>
      </p:sp>
      <p:sp>
        <p:nvSpPr>
          <p:cNvPr name="TextBox 17" id="17"/>
          <p:cNvSpPr txBox="true"/>
          <p:nvPr/>
        </p:nvSpPr>
        <p:spPr>
          <a:xfrm rot="0">
            <a:off x="9546861" y="2739841"/>
            <a:ext cx="6243066" cy="692186"/>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عند جمع عملة مثلاً، نحتاج تحديث العداد وتشغيل صوت وفحص فتح الباب - كل هذا من حدث واحد فقط</a:t>
            </a:r>
          </a:p>
        </p:txBody>
      </p:sp>
      <p:sp>
        <p:nvSpPr>
          <p:cNvPr name="TextBox 18" id="18"/>
          <p:cNvSpPr txBox="true"/>
          <p:nvPr/>
        </p:nvSpPr>
        <p:spPr>
          <a:xfrm rot="0">
            <a:off x="9546861" y="4991135"/>
            <a:ext cx="6243066" cy="1044611"/>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بدون </a:t>
            </a:r>
            <a:r>
              <a:rPr lang="en-US" sz="1998">
                <a:solidFill>
                  <a:srgbClr val="FFFFFF"/>
                </a:solidFill>
                <a:latin typeface="Open Sans"/>
                <a:ea typeface="Open Sans"/>
                <a:cs typeface="Open Sans"/>
                <a:sym typeface="Open Sans"/>
              </a:rPr>
              <a:t>Observer</a:t>
            </a:r>
            <a:r>
              <a:rPr lang="ar-EG" sz="1998">
                <a:solidFill>
                  <a:srgbClr val="FFFFFF"/>
                </a:solidFill>
                <a:latin typeface="Open Sans"/>
                <a:ea typeface="Open Sans"/>
                <a:cs typeface="Open Sans"/>
                <a:sym typeface="Open Sans"/>
                <a:rtl val="true"/>
              </a:rPr>
              <a:t>، سيحتاج </a:t>
            </a:r>
            <a:r>
              <a:rPr lang="en-US" sz="1998">
                <a:solidFill>
                  <a:srgbClr val="FFFFFF"/>
                </a:solidFill>
                <a:latin typeface="Open Sans"/>
                <a:ea typeface="Open Sans"/>
                <a:cs typeface="Open Sans"/>
                <a:sym typeface="Open Sans"/>
              </a:rPr>
              <a:t>Player</a:t>
            </a:r>
            <a:r>
              <a:rPr lang="ar-EG" sz="1998">
                <a:solidFill>
                  <a:srgbClr val="FFFFFF"/>
                </a:solidFill>
                <a:latin typeface="Open Sans"/>
                <a:ea typeface="Open Sans"/>
                <a:cs typeface="Open Sans"/>
                <a:sym typeface="Open Sans"/>
                <a:rtl val="true"/>
              </a:rPr>
              <a:t> معرفة </a:t>
            </a:r>
            <a:r>
              <a:rPr lang="en-US" sz="1998">
                <a:solidFill>
                  <a:srgbClr val="FFFFFF"/>
                </a:solidFill>
                <a:latin typeface="Open Sans"/>
                <a:ea typeface="Open Sans"/>
                <a:cs typeface="Open Sans"/>
                <a:sym typeface="Open Sans"/>
              </a:rPr>
              <a:t>CoinManager</a:t>
            </a:r>
            <a:r>
              <a:rPr lang="ar-EG" sz="1998">
                <a:solidFill>
                  <a:srgbClr val="FFFFFF"/>
                </a:solidFill>
                <a:latin typeface="Open Sans"/>
                <a:ea typeface="Open Sans"/>
                <a:cs typeface="Open Sans"/>
                <a:sym typeface="Open Sans"/>
                <a:rtl val="true"/>
              </a:rPr>
              <a:t> و </a:t>
            </a:r>
            <a:r>
              <a:rPr lang="en-US" sz="1998">
                <a:solidFill>
                  <a:srgbClr val="FFFFFF"/>
                </a:solidFill>
                <a:latin typeface="Open Sans"/>
                <a:ea typeface="Open Sans"/>
                <a:cs typeface="Open Sans"/>
                <a:sym typeface="Open Sans"/>
              </a:rPr>
              <a:t>DoorController</a:t>
            </a:r>
            <a:r>
              <a:rPr lang="ar-EG" sz="1998">
                <a:solidFill>
                  <a:srgbClr val="FFFFFF"/>
                </a:solidFill>
                <a:latin typeface="Open Sans"/>
                <a:ea typeface="Open Sans"/>
                <a:cs typeface="Open Sans"/>
                <a:sym typeface="Open Sans"/>
                <a:rtl val="true"/>
              </a:rPr>
              <a:t> و </a:t>
            </a:r>
            <a:r>
              <a:rPr lang="en-US" sz="1998">
                <a:solidFill>
                  <a:srgbClr val="FFFFFF"/>
                </a:solidFill>
                <a:latin typeface="Open Sans"/>
                <a:ea typeface="Open Sans"/>
                <a:cs typeface="Open Sans"/>
                <a:sym typeface="Open Sans"/>
              </a:rPr>
              <a:t>AudioManager</a:t>
            </a:r>
            <a:r>
              <a:rPr lang="ar-EG" sz="1998">
                <a:solidFill>
                  <a:srgbClr val="FFFFFF"/>
                </a:solidFill>
                <a:latin typeface="Open Sans"/>
                <a:ea typeface="Open Sans"/>
                <a:cs typeface="Open Sans"/>
                <a:sym typeface="Open Sans"/>
                <a:rtl val="true"/>
              </a:rPr>
              <a:t> مما يزيد التعقيد</a:t>
            </a:r>
          </a:p>
        </p:txBody>
      </p:sp>
      <p:sp>
        <p:nvSpPr>
          <p:cNvPr name="TextBox 19" id="19"/>
          <p:cNvSpPr txBox="true"/>
          <p:nvPr/>
        </p:nvSpPr>
        <p:spPr>
          <a:xfrm rot="0">
            <a:off x="9546861" y="7306171"/>
            <a:ext cx="6243066" cy="1044611"/>
          </a:xfrm>
          <a:prstGeom prst="rect">
            <a:avLst/>
          </a:prstGeom>
        </p:spPr>
        <p:txBody>
          <a:bodyPr anchor="t" rtlCol="false" tIns="0" lIns="0" bIns="0" rIns="0">
            <a:spAutoFit/>
          </a:bodyPr>
          <a:lstStyle/>
          <a:p>
            <a:pPr algn="r" rtl="true" marL="0" indent="0" lvl="0">
              <a:lnSpc>
                <a:spcPts val="2798"/>
              </a:lnSpc>
              <a:spcBef>
                <a:spcPct val="0"/>
              </a:spcBef>
            </a:pPr>
            <a:r>
              <a:rPr lang="en-US" sz="1998">
                <a:solidFill>
                  <a:srgbClr val="FFFFFF"/>
                </a:solidFill>
                <a:latin typeface="Open Sans"/>
                <a:ea typeface="Open Sans"/>
                <a:cs typeface="Open Sans"/>
                <a:sym typeface="Open Sans"/>
              </a:rPr>
              <a:t>Observer</a:t>
            </a:r>
            <a:r>
              <a:rPr lang="ar-EG" sz="1998">
                <a:solidFill>
                  <a:srgbClr val="FFFFFF"/>
                </a:solidFill>
                <a:latin typeface="Open Sans"/>
                <a:ea typeface="Open Sans"/>
                <a:cs typeface="Open Sans"/>
                <a:sym typeface="Open Sans"/>
                <a:rtl val="true"/>
              </a:rPr>
              <a:t> يضمن استقلالية المكونات حيث يطلق المصدر الحدث والمستمعون يستجيبون دون ربط مباشر</a:t>
            </a:r>
          </a:p>
        </p:txBody>
      </p:sp>
      <p:sp>
        <p:nvSpPr>
          <p:cNvPr name="TextBox 20" id="20"/>
          <p:cNvSpPr txBox="true"/>
          <p:nvPr/>
        </p:nvSpPr>
        <p:spPr>
          <a:xfrm rot="0">
            <a:off x="2062814" y="5296958"/>
            <a:ext cx="6439955" cy="910822"/>
          </a:xfrm>
          <a:prstGeom prst="rect">
            <a:avLst/>
          </a:prstGeom>
        </p:spPr>
        <p:txBody>
          <a:bodyPr anchor="t" rtlCol="false" tIns="0" lIns="0" bIns="0" rIns="0">
            <a:spAutoFit/>
          </a:bodyPr>
          <a:lstStyle/>
          <a:p>
            <a:pPr algn="r" rtl="true" marL="0" indent="0" lvl="0">
              <a:lnSpc>
                <a:spcPts val="7547"/>
              </a:lnSpc>
              <a:spcBef>
                <a:spcPct val="0"/>
              </a:spcBef>
            </a:pPr>
            <a:r>
              <a:rPr lang="ar-EG" b="true" sz="5390">
                <a:solidFill>
                  <a:srgbClr val="FFFFFF"/>
                </a:solidFill>
                <a:latin typeface="Proxima Nova Bold"/>
                <a:ea typeface="Proxima Nova Bold"/>
                <a:cs typeface="Proxima Nova Bold"/>
                <a:sym typeface="Proxima Nova Bold"/>
                <a:rtl val="true"/>
              </a:rPr>
              <a:t>نمط </a:t>
            </a:r>
            <a:r>
              <a:rPr lang="en-US" b="true" sz="5390">
                <a:solidFill>
                  <a:srgbClr val="FFFFFF"/>
                </a:solidFill>
                <a:latin typeface="Proxima Nova Bold"/>
                <a:ea typeface="Proxima Nova Bold"/>
                <a:cs typeface="Proxima Nova Bold"/>
                <a:sym typeface="Proxima Nova Bold"/>
              </a:rPr>
              <a:t>Observer</a:t>
            </a:r>
          </a:p>
        </p:txBody>
      </p:sp>
      <p:sp>
        <p:nvSpPr>
          <p:cNvPr name="TextBox 21" id="21"/>
          <p:cNvSpPr txBox="true"/>
          <p:nvPr/>
        </p:nvSpPr>
        <p:spPr>
          <a:xfrm rot="0">
            <a:off x="2142732" y="6174708"/>
            <a:ext cx="6360037" cy="910822"/>
          </a:xfrm>
          <a:prstGeom prst="rect">
            <a:avLst/>
          </a:prstGeom>
        </p:spPr>
        <p:txBody>
          <a:bodyPr anchor="t" rtlCol="false" tIns="0" lIns="0" bIns="0" rIns="0">
            <a:spAutoFit/>
          </a:bodyPr>
          <a:lstStyle/>
          <a:p>
            <a:pPr algn="r" rtl="true" marL="0" indent="0" lvl="0">
              <a:lnSpc>
                <a:spcPts val="7547"/>
              </a:lnSpc>
              <a:spcBef>
                <a:spcPct val="0"/>
              </a:spcBef>
            </a:pPr>
            <a:r>
              <a:rPr lang="ar-EG" b="true" sz="5390">
                <a:solidFill>
                  <a:srgbClr val="7ED957"/>
                </a:solidFill>
                <a:latin typeface="Proxima Nova Bold"/>
                <a:ea typeface="Proxima Nova Bold"/>
                <a:cs typeface="Proxima Nova Bold"/>
                <a:sym typeface="Proxima Nova Bold"/>
                <a:rtl val="true"/>
              </a:rPr>
              <a:t>لماذا استخدمناه؟</a:t>
            </a:r>
          </a:p>
        </p:txBody>
      </p:sp>
      <p:sp>
        <p:nvSpPr>
          <p:cNvPr name="TextBox 22" id="22"/>
          <p:cNvSpPr txBox="true"/>
          <p:nvPr/>
        </p:nvSpPr>
        <p:spPr>
          <a:xfrm rot="0">
            <a:off x="2259703" y="7306171"/>
            <a:ext cx="6243066" cy="692186"/>
          </a:xfrm>
          <a:prstGeom prst="rect">
            <a:avLst/>
          </a:prstGeom>
        </p:spPr>
        <p:txBody>
          <a:bodyPr anchor="t" rtlCol="false" tIns="0" lIns="0" bIns="0" rIns="0">
            <a:spAutoFit/>
          </a:bodyPr>
          <a:lstStyle/>
          <a:p>
            <a:pPr algn="r" rtl="true" marL="0" indent="0" lvl="0">
              <a:lnSpc>
                <a:spcPts val="2798"/>
              </a:lnSpc>
              <a:spcBef>
                <a:spcPct val="0"/>
              </a:spcBef>
            </a:pPr>
            <a:r>
              <a:rPr lang="ar-EG" sz="1998">
                <a:solidFill>
                  <a:srgbClr val="FFFFFF"/>
                </a:solidFill>
                <a:latin typeface="Open Sans"/>
                <a:ea typeface="Open Sans"/>
                <a:cs typeface="Open Sans"/>
                <a:sym typeface="Open Sans"/>
                <a:rtl val="true"/>
              </a:rPr>
              <a:t>يتيح </a:t>
            </a:r>
            <a:r>
              <a:rPr lang="en-US" sz="1998">
                <a:solidFill>
                  <a:srgbClr val="FFFFFF"/>
                </a:solidFill>
                <a:latin typeface="Open Sans"/>
                <a:ea typeface="Open Sans"/>
                <a:cs typeface="Open Sans"/>
                <a:sym typeface="Open Sans"/>
              </a:rPr>
              <a:t>Observer</a:t>
            </a:r>
            <a:r>
              <a:rPr lang="ar-EG" sz="1998">
                <a:solidFill>
                  <a:srgbClr val="FFFFFF"/>
                </a:solidFill>
                <a:latin typeface="Open Sans"/>
                <a:ea typeface="Open Sans"/>
                <a:cs typeface="Open Sans"/>
                <a:sym typeface="Open Sans"/>
                <a:rtl val="true"/>
              </a:rPr>
              <a:t> التواصل المرن بين مكونات اللعبة دون اقتران مباشر، مما يسهل الصيانة والتوسع</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sp>
        <p:nvSpPr>
          <p:cNvPr name="AutoShape 2" id="2"/>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3" id="3"/>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082153" y="833522"/>
            <a:ext cx="354294" cy="390407"/>
          </a:xfrm>
          <a:custGeom>
            <a:avLst/>
            <a:gdLst/>
            <a:ahLst/>
            <a:cxnLst/>
            <a:rect r="r" b="b" t="t" l="l"/>
            <a:pathLst>
              <a:path h="390407" w="354294">
                <a:moveTo>
                  <a:pt x="354294" y="0"/>
                </a:moveTo>
                <a:lnTo>
                  <a:pt x="0" y="0"/>
                </a:lnTo>
                <a:lnTo>
                  <a:pt x="0" y="390406"/>
                </a:lnTo>
                <a:lnTo>
                  <a:pt x="354294" y="390406"/>
                </a:lnTo>
                <a:lnTo>
                  <a:pt x="3542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5400000">
            <a:off x="-439356" y="2526331"/>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0">
            <a:off x="16666527" y="6920318"/>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4309741" y="825080"/>
            <a:ext cx="2623970" cy="324898"/>
          </a:xfrm>
          <a:prstGeom prst="rect">
            <a:avLst/>
          </a:prstGeom>
        </p:spPr>
        <p:txBody>
          <a:bodyPr anchor="t" rtlCol="false" tIns="0" lIns="0" bIns="0" rIns="0">
            <a:spAutoFit/>
          </a:bodyPr>
          <a:lstStyle/>
          <a:p>
            <a:pPr algn="r" rtl="true" marL="0" indent="0" lvl="0">
              <a:lnSpc>
                <a:spcPts val="2571"/>
              </a:lnSpc>
            </a:pPr>
            <a:r>
              <a:rPr lang="ar-EG" b="true" sz="2025">
                <a:solidFill>
                  <a:srgbClr val="FFFFFF"/>
                </a:solidFill>
                <a:latin typeface="Garet Bold"/>
                <a:ea typeface="Garet Bold"/>
                <a:cs typeface="Garet Bold"/>
                <a:sym typeface="Garet Bold"/>
                <a:rtl val="true"/>
              </a:rPr>
              <a:t>أنماط التصميم</a:t>
            </a:r>
          </a:p>
        </p:txBody>
      </p:sp>
      <p:sp>
        <p:nvSpPr>
          <p:cNvPr name="TextBox 9" id="9"/>
          <p:cNvSpPr txBox="true"/>
          <p:nvPr/>
        </p:nvSpPr>
        <p:spPr>
          <a:xfrm rot="0">
            <a:off x="9040574" y="1793924"/>
            <a:ext cx="6800539" cy="953235"/>
          </a:xfrm>
          <a:prstGeom prst="rect">
            <a:avLst/>
          </a:prstGeom>
        </p:spPr>
        <p:txBody>
          <a:bodyPr anchor="t" rtlCol="false" tIns="0" lIns="0" bIns="0" rIns="0">
            <a:spAutoFit/>
          </a:bodyPr>
          <a:lstStyle/>
          <a:p>
            <a:pPr algn="r" rtl="true" marL="0" indent="0" lvl="0">
              <a:lnSpc>
                <a:spcPts val="7834"/>
              </a:lnSpc>
              <a:spcBef>
                <a:spcPct val="0"/>
              </a:spcBef>
            </a:pPr>
            <a:r>
              <a:rPr lang="ar-EG" b="true" sz="5596">
                <a:solidFill>
                  <a:srgbClr val="FFFFFF"/>
                </a:solidFill>
                <a:latin typeface="Proxima Nova Bold"/>
                <a:ea typeface="Proxima Nova Bold"/>
                <a:cs typeface="Proxima Nova Bold"/>
                <a:sym typeface="Proxima Nova Bold"/>
                <a:rtl val="true"/>
              </a:rPr>
              <a:t>نمط </a:t>
            </a:r>
            <a:r>
              <a:rPr lang="en-US" b="true" sz="5596">
                <a:solidFill>
                  <a:srgbClr val="FFFFFF"/>
                </a:solidFill>
                <a:latin typeface="Proxima Nova Bold"/>
                <a:ea typeface="Proxima Nova Bold"/>
                <a:cs typeface="Proxima Nova Bold"/>
                <a:sym typeface="Proxima Nova Bold"/>
              </a:rPr>
              <a:t>Observer</a:t>
            </a:r>
          </a:p>
        </p:txBody>
      </p:sp>
      <p:sp>
        <p:nvSpPr>
          <p:cNvPr name="TextBox 10" id="10"/>
          <p:cNvSpPr txBox="true"/>
          <p:nvPr/>
        </p:nvSpPr>
        <p:spPr>
          <a:xfrm rot="0">
            <a:off x="9921579" y="2671673"/>
            <a:ext cx="5919534" cy="953235"/>
          </a:xfrm>
          <a:prstGeom prst="rect">
            <a:avLst/>
          </a:prstGeom>
        </p:spPr>
        <p:txBody>
          <a:bodyPr anchor="t" rtlCol="false" tIns="0" lIns="0" bIns="0" rIns="0">
            <a:spAutoFit/>
          </a:bodyPr>
          <a:lstStyle/>
          <a:p>
            <a:pPr algn="r" rtl="true" marL="0" indent="0" lvl="0">
              <a:lnSpc>
                <a:spcPts val="7834"/>
              </a:lnSpc>
              <a:spcBef>
                <a:spcPct val="0"/>
              </a:spcBef>
            </a:pPr>
            <a:r>
              <a:rPr lang="ar-EG" b="true" sz="5596">
                <a:solidFill>
                  <a:srgbClr val="7ED957"/>
                </a:solidFill>
                <a:latin typeface="Proxima Nova Bold"/>
                <a:ea typeface="Proxima Nova Bold"/>
                <a:cs typeface="Proxima Nova Bold"/>
                <a:sym typeface="Proxima Nova Bold"/>
                <a:rtl val="true"/>
              </a:rPr>
              <a:t>شرح الكلاسات</a:t>
            </a:r>
          </a:p>
        </p:txBody>
      </p:sp>
      <p:sp>
        <p:nvSpPr>
          <p:cNvPr name="TextBox 11" id="11"/>
          <p:cNvSpPr txBox="true"/>
          <p:nvPr/>
        </p:nvSpPr>
        <p:spPr>
          <a:xfrm rot="0">
            <a:off x="9598047" y="3828938"/>
            <a:ext cx="6243066" cy="594058"/>
          </a:xfrm>
          <a:prstGeom prst="rect">
            <a:avLst/>
          </a:prstGeom>
        </p:spPr>
        <p:txBody>
          <a:bodyPr anchor="t" rtlCol="false" tIns="0" lIns="0" bIns="0" rIns="0">
            <a:spAutoFit/>
          </a:bodyPr>
          <a:lstStyle/>
          <a:p>
            <a:pPr algn="r" rtl="true" marL="0" indent="0" lvl="0">
              <a:lnSpc>
                <a:spcPts val="2431"/>
              </a:lnSpc>
              <a:spcBef>
                <a:spcPct val="0"/>
              </a:spcBef>
            </a:pPr>
            <a:r>
              <a:rPr lang="ar-EG" sz="1736">
                <a:solidFill>
                  <a:srgbClr val="FFFFFF"/>
                </a:solidFill>
                <a:latin typeface="Open Sans"/>
                <a:ea typeface="Open Sans"/>
                <a:cs typeface="Open Sans"/>
                <a:sym typeface="Open Sans"/>
                <a:rtl val="true"/>
              </a:rPr>
              <a:t>الواجهات والكلاسات الرئيسية التي تشكل بنية نمط </a:t>
            </a:r>
            <a:r>
              <a:rPr lang="en-US" sz="1736">
                <a:solidFill>
                  <a:srgbClr val="FFFFFF"/>
                </a:solidFill>
                <a:latin typeface="Open Sans"/>
                <a:ea typeface="Open Sans"/>
                <a:cs typeface="Open Sans"/>
                <a:sym typeface="Open Sans"/>
              </a:rPr>
              <a:t>Observer</a:t>
            </a:r>
            <a:r>
              <a:rPr lang="ar-EG" sz="1736">
                <a:solidFill>
                  <a:srgbClr val="FFFFFF"/>
                </a:solidFill>
                <a:latin typeface="Open Sans"/>
                <a:ea typeface="Open Sans"/>
                <a:cs typeface="Open Sans"/>
                <a:sym typeface="Open Sans"/>
                <a:rtl val="true"/>
              </a:rPr>
              <a:t> في اللعبة وكيفية تفاعلها معاً</a:t>
            </a:r>
          </a:p>
        </p:txBody>
      </p:sp>
      <p:sp>
        <p:nvSpPr>
          <p:cNvPr name="TextBox 12" id="12"/>
          <p:cNvSpPr txBox="true"/>
          <p:nvPr/>
        </p:nvSpPr>
        <p:spPr>
          <a:xfrm rot="0">
            <a:off x="13511023" y="5241760"/>
            <a:ext cx="2623970" cy="324898"/>
          </a:xfrm>
          <a:prstGeom prst="rect">
            <a:avLst/>
          </a:prstGeom>
        </p:spPr>
        <p:txBody>
          <a:bodyPr anchor="t" rtlCol="false" tIns="0" lIns="0" bIns="0" rIns="0">
            <a:spAutoFit/>
          </a:bodyPr>
          <a:lstStyle/>
          <a:p>
            <a:pPr algn="ctr" marL="0" indent="0" lvl="0">
              <a:lnSpc>
                <a:spcPts val="2571"/>
              </a:lnSpc>
            </a:pPr>
            <a:r>
              <a:rPr lang="en-US" b="true" sz="2025" spc="-40">
                <a:solidFill>
                  <a:srgbClr val="FFFFFF"/>
                </a:solidFill>
                <a:latin typeface="Garet Bold"/>
                <a:ea typeface="Garet Bold"/>
                <a:cs typeface="Garet Bold"/>
                <a:sym typeface="Garet Bold"/>
              </a:rPr>
              <a:t>CoinManager</a:t>
            </a:r>
          </a:p>
        </p:txBody>
      </p:sp>
      <p:sp>
        <p:nvSpPr>
          <p:cNvPr name="TextBox 13" id="13"/>
          <p:cNvSpPr txBox="true"/>
          <p:nvPr/>
        </p:nvSpPr>
        <p:spPr>
          <a:xfrm rot="0">
            <a:off x="7574705" y="5241760"/>
            <a:ext cx="2623970" cy="324898"/>
          </a:xfrm>
          <a:prstGeom prst="rect">
            <a:avLst/>
          </a:prstGeom>
        </p:spPr>
        <p:txBody>
          <a:bodyPr anchor="t" rtlCol="false" tIns="0" lIns="0" bIns="0" rIns="0">
            <a:spAutoFit/>
          </a:bodyPr>
          <a:lstStyle/>
          <a:p>
            <a:pPr algn="ctr" rtl="true" marL="0" indent="0" lvl="0">
              <a:lnSpc>
                <a:spcPts val="2571"/>
              </a:lnSpc>
            </a:pPr>
            <a:r>
              <a:rPr lang="en-US" b="true" sz="2025">
                <a:solidFill>
                  <a:srgbClr val="FFFFFF"/>
                </a:solidFill>
                <a:latin typeface="Garet Bold"/>
                <a:ea typeface="Garet Bold"/>
                <a:cs typeface="Garet Bold"/>
                <a:sym typeface="Garet Bold"/>
              </a:rPr>
              <a:t>GameEventSystem</a:t>
            </a:r>
          </a:p>
        </p:txBody>
      </p:sp>
      <p:sp>
        <p:nvSpPr>
          <p:cNvPr name="TextBox 14" id="14"/>
          <p:cNvSpPr txBox="true"/>
          <p:nvPr/>
        </p:nvSpPr>
        <p:spPr>
          <a:xfrm rot="0">
            <a:off x="13511023" y="7405064"/>
            <a:ext cx="2623970" cy="324898"/>
          </a:xfrm>
          <a:prstGeom prst="rect">
            <a:avLst/>
          </a:prstGeom>
        </p:spPr>
        <p:txBody>
          <a:bodyPr anchor="t" rtlCol="false" tIns="0" lIns="0" bIns="0" rIns="0">
            <a:spAutoFit/>
          </a:bodyPr>
          <a:lstStyle/>
          <a:p>
            <a:pPr algn="ctr" rtl="true" marL="0" indent="0" lvl="0">
              <a:lnSpc>
                <a:spcPts val="2571"/>
              </a:lnSpc>
            </a:pPr>
            <a:r>
              <a:rPr lang="en-US" b="true" sz="2025" spc="-40">
                <a:solidFill>
                  <a:srgbClr val="FFFFFF"/>
                </a:solidFill>
                <a:latin typeface="Garet Bold"/>
                <a:ea typeface="Garet Bold"/>
                <a:cs typeface="Garet Bold"/>
                <a:sym typeface="Garet Bold"/>
              </a:rPr>
              <a:t>GameObserver</a:t>
            </a:r>
          </a:p>
        </p:txBody>
      </p:sp>
      <p:sp>
        <p:nvSpPr>
          <p:cNvPr name="TextBox 15" id="15"/>
          <p:cNvSpPr txBox="true"/>
          <p:nvPr/>
        </p:nvSpPr>
        <p:spPr>
          <a:xfrm rot="0">
            <a:off x="13511023" y="5795258"/>
            <a:ext cx="2623970" cy="906940"/>
          </a:xfrm>
          <a:prstGeom prst="rect">
            <a:avLst/>
          </a:prstGeom>
        </p:spPr>
        <p:txBody>
          <a:bodyPr anchor="t" rtlCol="false" tIns="0" lIns="0" bIns="0" rIns="0">
            <a:spAutoFit/>
          </a:bodyPr>
          <a:lstStyle/>
          <a:p>
            <a:pPr algn="ctr" rtl="true" marL="0" indent="0" lvl="0">
              <a:lnSpc>
                <a:spcPts val="2426"/>
              </a:lnSpc>
            </a:pPr>
            <a:r>
              <a:rPr lang="ar-EG" sz="1910">
                <a:solidFill>
                  <a:srgbClr val="FFFFFF"/>
                </a:solidFill>
                <a:latin typeface="Garet"/>
                <a:ea typeface="Garet"/>
                <a:cs typeface="Garet"/>
                <a:sym typeface="Garet"/>
                <a:rtl val="true"/>
              </a:rPr>
              <a:t> يعد العملات</a:t>
            </a:r>
            <a:r>
              <a:rPr lang="ar-EG" sz="1910">
                <a:solidFill>
                  <a:srgbClr val="FFFFFF"/>
                </a:solidFill>
                <a:latin typeface="Garet"/>
                <a:ea typeface="Garet"/>
                <a:cs typeface="Garet"/>
                <a:sym typeface="Garet"/>
                <a:rtl val="true"/>
              </a:rPr>
              <a:t> المجموعة عند اكتمالها يطلق حدث فتح الباب</a:t>
            </a:r>
          </a:p>
        </p:txBody>
      </p:sp>
      <p:sp>
        <p:nvSpPr>
          <p:cNvPr name="TextBox 16" id="16"/>
          <p:cNvSpPr txBox="true"/>
          <p:nvPr/>
        </p:nvSpPr>
        <p:spPr>
          <a:xfrm rot="0">
            <a:off x="7405142" y="5814308"/>
            <a:ext cx="2954611" cy="972598"/>
          </a:xfrm>
          <a:prstGeom prst="rect">
            <a:avLst/>
          </a:prstGeom>
        </p:spPr>
        <p:txBody>
          <a:bodyPr anchor="t" rtlCol="false" tIns="0" lIns="0" bIns="0" rIns="0">
            <a:spAutoFit/>
          </a:bodyPr>
          <a:lstStyle/>
          <a:p>
            <a:pPr algn="ctr" rtl="true" marL="0" indent="0" lvl="0">
              <a:lnSpc>
                <a:spcPts val="2571"/>
              </a:lnSpc>
            </a:pPr>
            <a:r>
              <a:rPr lang="ar-EG" sz="2025">
                <a:solidFill>
                  <a:srgbClr val="FFFFFF"/>
                </a:solidFill>
                <a:latin typeface="Garet"/>
                <a:ea typeface="Garet"/>
                <a:cs typeface="Garet"/>
                <a:sym typeface="Garet"/>
                <a:rtl val="true"/>
              </a:rPr>
              <a:t> </a:t>
            </a:r>
            <a:r>
              <a:rPr lang="ar-EG" sz="2025">
                <a:solidFill>
                  <a:srgbClr val="FFFFFF"/>
                </a:solidFill>
                <a:latin typeface="Garet"/>
                <a:ea typeface="Garet"/>
                <a:cs typeface="Garet"/>
                <a:sym typeface="Garet"/>
                <a:rtl val="true"/>
              </a:rPr>
              <a:t>ناقل الأحداث يحتفظ بقائمة المستمعين ويخطرهم عند كل حدث</a:t>
            </a:r>
          </a:p>
        </p:txBody>
      </p:sp>
      <p:sp>
        <p:nvSpPr>
          <p:cNvPr name="TextBox 17" id="17"/>
          <p:cNvSpPr txBox="true"/>
          <p:nvPr/>
        </p:nvSpPr>
        <p:spPr>
          <a:xfrm rot="0">
            <a:off x="13258054" y="7987137"/>
            <a:ext cx="3129909" cy="602140"/>
          </a:xfrm>
          <a:prstGeom prst="rect">
            <a:avLst/>
          </a:prstGeom>
        </p:spPr>
        <p:txBody>
          <a:bodyPr anchor="t" rtlCol="false" tIns="0" lIns="0" bIns="0" rIns="0">
            <a:spAutoFit/>
          </a:bodyPr>
          <a:lstStyle/>
          <a:p>
            <a:pPr algn="ctr" rtl="true" marL="0" indent="0" lvl="0">
              <a:lnSpc>
                <a:spcPts val="2426"/>
              </a:lnSpc>
            </a:pPr>
            <a:r>
              <a:rPr lang="ar-EG" sz="1910">
                <a:solidFill>
                  <a:srgbClr val="FFFFFF"/>
                </a:solidFill>
                <a:latin typeface="Garet"/>
                <a:ea typeface="Garet"/>
                <a:cs typeface="Garet"/>
                <a:sym typeface="Garet"/>
                <a:rtl val="true"/>
              </a:rPr>
              <a:t>واجهة المستمع تفرض على كل كلاس تنفيذ </a:t>
            </a:r>
            <a:r>
              <a:rPr lang="en-US" sz="1910">
                <a:solidFill>
                  <a:srgbClr val="FFFFFF"/>
                </a:solidFill>
                <a:latin typeface="Garet"/>
                <a:ea typeface="Garet"/>
                <a:cs typeface="Garet"/>
                <a:sym typeface="Garet"/>
              </a:rPr>
              <a:t>onEvent</a:t>
            </a:r>
            <a:r>
              <a:rPr lang="ar-EG" sz="1910">
                <a:solidFill>
                  <a:srgbClr val="FFFFFF"/>
                </a:solidFill>
                <a:latin typeface="Garet"/>
                <a:ea typeface="Garet"/>
                <a:cs typeface="Garet"/>
                <a:sym typeface="Garet"/>
                <a:rtl val="true"/>
              </a:rPr>
              <a:t>()</a:t>
            </a:r>
          </a:p>
        </p:txBody>
      </p:sp>
      <p:grpSp>
        <p:nvGrpSpPr>
          <p:cNvPr name="Group 18" id="18"/>
          <p:cNvGrpSpPr/>
          <p:nvPr/>
        </p:nvGrpSpPr>
        <p:grpSpPr>
          <a:xfrm rot="0">
            <a:off x="1028700" y="1464055"/>
            <a:ext cx="9100984" cy="3473245"/>
            <a:chOff x="0" y="0"/>
            <a:chExt cx="3227889" cy="1231872"/>
          </a:xfrm>
        </p:grpSpPr>
        <p:sp>
          <p:nvSpPr>
            <p:cNvPr name="Freeform 19" id="19"/>
            <p:cNvSpPr/>
            <p:nvPr/>
          </p:nvSpPr>
          <p:spPr>
            <a:xfrm flipH="false" flipV="false" rot="0">
              <a:off x="0" y="0"/>
              <a:ext cx="3227889" cy="1231872"/>
            </a:xfrm>
            <a:custGeom>
              <a:avLst/>
              <a:gdLst/>
              <a:ahLst/>
              <a:cxnLst/>
              <a:rect r="r" b="b" t="t" l="l"/>
              <a:pathLst>
                <a:path h="1231872" w="3227889">
                  <a:moveTo>
                    <a:pt x="3202369" y="0"/>
                  </a:moveTo>
                  <a:lnTo>
                    <a:pt x="25520" y="0"/>
                  </a:lnTo>
                  <a:cubicBezTo>
                    <a:pt x="18752" y="0"/>
                    <a:pt x="12261" y="2689"/>
                    <a:pt x="7475" y="7475"/>
                  </a:cubicBezTo>
                  <a:cubicBezTo>
                    <a:pt x="2689" y="12261"/>
                    <a:pt x="0" y="18752"/>
                    <a:pt x="0" y="25520"/>
                  </a:cubicBezTo>
                  <a:lnTo>
                    <a:pt x="0" y="1206352"/>
                  </a:lnTo>
                  <a:cubicBezTo>
                    <a:pt x="0" y="1213121"/>
                    <a:pt x="2689" y="1219612"/>
                    <a:pt x="7475" y="1224398"/>
                  </a:cubicBezTo>
                  <a:cubicBezTo>
                    <a:pt x="12261" y="1229184"/>
                    <a:pt x="18752" y="1231872"/>
                    <a:pt x="25520" y="1231872"/>
                  </a:cubicBezTo>
                  <a:lnTo>
                    <a:pt x="3202369" y="1231872"/>
                  </a:lnTo>
                  <a:cubicBezTo>
                    <a:pt x="3209138" y="1231872"/>
                    <a:pt x="3215629" y="1229184"/>
                    <a:pt x="3220415" y="1224398"/>
                  </a:cubicBezTo>
                  <a:cubicBezTo>
                    <a:pt x="3225201" y="1219612"/>
                    <a:pt x="3227889" y="1213121"/>
                    <a:pt x="3227889" y="1206352"/>
                  </a:cubicBezTo>
                  <a:lnTo>
                    <a:pt x="3227889" y="25520"/>
                  </a:lnTo>
                  <a:cubicBezTo>
                    <a:pt x="3227889" y="18752"/>
                    <a:pt x="3225201" y="12261"/>
                    <a:pt x="3220415" y="7475"/>
                  </a:cubicBezTo>
                  <a:cubicBezTo>
                    <a:pt x="3215629" y="2689"/>
                    <a:pt x="3209138" y="0"/>
                    <a:pt x="3202369" y="0"/>
                  </a:cubicBezTo>
                  <a:close/>
                </a:path>
              </a:pathLst>
            </a:custGeom>
            <a:blipFill>
              <a:blip r:embed="rId10"/>
              <a:stretch>
                <a:fillRect l="-2458" t="0" r="-2458" b="0"/>
              </a:stretch>
            </a:blipFill>
            <a:ln w="95250" cap="rnd">
              <a:solidFill>
                <a:srgbClr val="FFFFFF"/>
              </a:solidFill>
              <a:prstDash val="solid"/>
              <a:round/>
            </a:ln>
          </p:spPr>
        </p:sp>
      </p:grpSp>
      <p:sp>
        <p:nvSpPr>
          <p:cNvPr name="TextBox 20" id="20"/>
          <p:cNvSpPr txBox="true"/>
          <p:nvPr/>
        </p:nvSpPr>
        <p:spPr>
          <a:xfrm rot="0">
            <a:off x="7754016" y="7405266"/>
            <a:ext cx="2045465" cy="324696"/>
          </a:xfrm>
          <a:prstGeom prst="rect">
            <a:avLst/>
          </a:prstGeom>
        </p:spPr>
        <p:txBody>
          <a:bodyPr anchor="t" rtlCol="false" tIns="0" lIns="0" bIns="0" rIns="0">
            <a:spAutoFit/>
          </a:bodyPr>
          <a:lstStyle/>
          <a:p>
            <a:pPr algn="ctr" rtl="true" marL="0" indent="0" lvl="0">
              <a:lnSpc>
                <a:spcPts val="2571"/>
              </a:lnSpc>
              <a:spcBef>
                <a:spcPct val="0"/>
              </a:spcBef>
            </a:pPr>
            <a:r>
              <a:rPr lang="en-US" b="true" sz="2024" strike="noStrike" u="none">
                <a:solidFill>
                  <a:srgbClr val="FFFFFF"/>
                </a:solidFill>
                <a:latin typeface="Garet Bold"/>
                <a:ea typeface="Garet Bold"/>
                <a:cs typeface="Garet Bold"/>
                <a:sym typeface="Garet Bold"/>
              </a:rPr>
              <a:t>DoorController</a:t>
            </a:r>
          </a:p>
        </p:txBody>
      </p:sp>
      <p:sp>
        <p:nvSpPr>
          <p:cNvPr name="TextBox 21" id="21"/>
          <p:cNvSpPr txBox="true"/>
          <p:nvPr/>
        </p:nvSpPr>
        <p:spPr>
          <a:xfrm rot="0">
            <a:off x="7405142" y="7977612"/>
            <a:ext cx="2954611" cy="648748"/>
          </a:xfrm>
          <a:prstGeom prst="rect">
            <a:avLst/>
          </a:prstGeom>
        </p:spPr>
        <p:txBody>
          <a:bodyPr anchor="t" rtlCol="false" tIns="0" lIns="0" bIns="0" rIns="0">
            <a:spAutoFit/>
          </a:bodyPr>
          <a:lstStyle/>
          <a:p>
            <a:pPr algn="ctr" rtl="true" marL="0" indent="0" lvl="0">
              <a:lnSpc>
                <a:spcPts val="2571"/>
              </a:lnSpc>
              <a:spcBef>
                <a:spcPct val="0"/>
              </a:spcBef>
            </a:pPr>
            <a:r>
              <a:rPr lang="ar-EG" sz="2025">
                <a:solidFill>
                  <a:srgbClr val="FFFFFF"/>
                </a:solidFill>
                <a:latin typeface="Garet"/>
                <a:ea typeface="Garet"/>
                <a:cs typeface="Garet"/>
                <a:sym typeface="Garet"/>
                <a:rtl val="true"/>
              </a:rPr>
              <a:t>يستمع لاكتمال العملات</a:t>
            </a:r>
            <a:r>
              <a:rPr lang="ar-EG" sz="2025" strike="noStrike" u="none">
                <a:solidFill>
                  <a:srgbClr val="FFFFFF"/>
                </a:solidFill>
                <a:latin typeface="Garet"/>
                <a:ea typeface="Garet"/>
                <a:cs typeface="Garet"/>
                <a:sym typeface="Garet"/>
                <a:rtl val="true"/>
              </a:rPr>
              <a:t> ي</a:t>
            </a:r>
            <a:r>
              <a:rPr lang="ar-EG" sz="2025" strike="noStrike" u="none">
                <a:solidFill>
                  <a:srgbClr val="FFFFFF"/>
                </a:solidFill>
                <a:latin typeface="Garet"/>
                <a:ea typeface="Garet"/>
                <a:cs typeface="Garet"/>
                <a:sym typeface="Garet"/>
                <a:rtl val="true"/>
              </a:rPr>
              <a:t>ف</a:t>
            </a:r>
            <a:r>
              <a:rPr lang="ar-EG" sz="2025" strike="noStrike" u="none">
                <a:solidFill>
                  <a:srgbClr val="FFFFFF"/>
                </a:solidFill>
                <a:latin typeface="Garet"/>
                <a:ea typeface="Garet"/>
                <a:cs typeface="Garet"/>
                <a:sym typeface="Garet"/>
                <a:rtl val="true"/>
              </a:rPr>
              <a:t>تح الباب عند اس</a:t>
            </a:r>
            <a:r>
              <a:rPr lang="ar-EG" sz="2025" strike="noStrike" u="none">
                <a:solidFill>
                  <a:srgbClr val="FFFFFF"/>
                </a:solidFill>
                <a:latin typeface="Garet"/>
                <a:ea typeface="Garet"/>
                <a:cs typeface="Garet"/>
                <a:sym typeface="Garet"/>
                <a:rtl val="true"/>
              </a:rPr>
              <a:t>ت</a:t>
            </a:r>
            <a:r>
              <a:rPr lang="ar-EG" sz="2025" strike="noStrike" u="none">
                <a:solidFill>
                  <a:srgbClr val="FFFFFF"/>
                </a:solidFill>
                <a:latin typeface="Garet"/>
                <a:ea typeface="Garet"/>
                <a:cs typeface="Garet"/>
                <a:sym typeface="Garet"/>
                <a:rtl val="true"/>
              </a:rPr>
              <a:t>قبال الحدث</a:t>
            </a:r>
          </a:p>
        </p:txBody>
      </p:sp>
      <p:sp>
        <p:nvSpPr>
          <p:cNvPr name="TextBox 22" id="22"/>
          <p:cNvSpPr txBox="true"/>
          <p:nvPr/>
        </p:nvSpPr>
        <p:spPr>
          <a:xfrm rot="0">
            <a:off x="2282698" y="5156623"/>
            <a:ext cx="1979660" cy="324696"/>
          </a:xfrm>
          <a:prstGeom prst="rect">
            <a:avLst/>
          </a:prstGeom>
        </p:spPr>
        <p:txBody>
          <a:bodyPr anchor="t" rtlCol="false" tIns="0" lIns="0" bIns="0" rIns="0">
            <a:spAutoFit/>
          </a:bodyPr>
          <a:lstStyle/>
          <a:p>
            <a:pPr algn="ctr" rtl="true" marL="0" indent="0" lvl="0">
              <a:lnSpc>
                <a:spcPts val="2571"/>
              </a:lnSpc>
              <a:spcBef>
                <a:spcPct val="0"/>
              </a:spcBef>
            </a:pPr>
            <a:r>
              <a:rPr lang="en-US" b="true" sz="2024">
                <a:solidFill>
                  <a:srgbClr val="FFFFFF"/>
                </a:solidFill>
                <a:latin typeface="Garet Bold"/>
                <a:ea typeface="Garet Bold"/>
                <a:cs typeface="Garet Bold"/>
                <a:sym typeface="Garet Bold"/>
              </a:rPr>
              <a:t>Audi</a:t>
            </a:r>
            <a:r>
              <a:rPr lang="en-US" b="true" sz="2024" strike="noStrike" u="none">
                <a:solidFill>
                  <a:srgbClr val="FFFFFF"/>
                </a:solidFill>
                <a:latin typeface="Garet Bold"/>
                <a:ea typeface="Garet Bold"/>
                <a:cs typeface="Garet Bold"/>
                <a:sym typeface="Garet Bold"/>
              </a:rPr>
              <a:t>o</a:t>
            </a:r>
            <a:r>
              <a:rPr lang="en-US" b="true" sz="2024" strike="noStrike" u="none">
                <a:solidFill>
                  <a:srgbClr val="FFFFFF"/>
                </a:solidFill>
                <a:latin typeface="Garet Bold"/>
                <a:ea typeface="Garet Bold"/>
                <a:cs typeface="Garet Bold"/>
                <a:sym typeface="Garet Bold"/>
              </a:rPr>
              <a:t>Ma</a:t>
            </a:r>
            <a:r>
              <a:rPr lang="en-US" b="true" sz="2024" strike="noStrike" u="none">
                <a:solidFill>
                  <a:srgbClr val="FFFFFF"/>
                </a:solidFill>
                <a:latin typeface="Garet Bold"/>
                <a:ea typeface="Garet Bold"/>
                <a:cs typeface="Garet Bold"/>
                <a:sym typeface="Garet Bold"/>
              </a:rPr>
              <a:t>n</a:t>
            </a:r>
            <a:r>
              <a:rPr lang="en-US" b="true" sz="2024" strike="noStrike" u="none">
                <a:solidFill>
                  <a:srgbClr val="FFFFFF"/>
                </a:solidFill>
                <a:latin typeface="Garet Bold"/>
                <a:ea typeface="Garet Bold"/>
                <a:cs typeface="Garet Bold"/>
                <a:sym typeface="Garet Bold"/>
              </a:rPr>
              <a:t>ag</a:t>
            </a:r>
            <a:r>
              <a:rPr lang="en-US" b="true" sz="2024" strike="noStrike" u="none">
                <a:solidFill>
                  <a:srgbClr val="FFFFFF"/>
                </a:solidFill>
                <a:latin typeface="Garet Bold"/>
                <a:ea typeface="Garet Bold"/>
                <a:cs typeface="Garet Bold"/>
                <a:sym typeface="Garet Bold"/>
              </a:rPr>
              <a:t>er</a:t>
            </a:r>
          </a:p>
        </p:txBody>
      </p:sp>
      <p:sp>
        <p:nvSpPr>
          <p:cNvPr name="TextBox 23" id="23"/>
          <p:cNvSpPr txBox="true"/>
          <p:nvPr/>
        </p:nvSpPr>
        <p:spPr>
          <a:xfrm rot="0">
            <a:off x="1960543" y="5785733"/>
            <a:ext cx="2623970" cy="972598"/>
          </a:xfrm>
          <a:prstGeom prst="rect">
            <a:avLst/>
          </a:prstGeom>
        </p:spPr>
        <p:txBody>
          <a:bodyPr anchor="t" rtlCol="false" tIns="0" lIns="0" bIns="0" rIns="0">
            <a:spAutoFit/>
          </a:bodyPr>
          <a:lstStyle/>
          <a:p>
            <a:pPr algn="ctr" rtl="true" marL="0" indent="0" lvl="0">
              <a:lnSpc>
                <a:spcPts val="2571"/>
              </a:lnSpc>
            </a:pPr>
            <a:r>
              <a:rPr lang="ar-EG" sz="2025">
                <a:solidFill>
                  <a:srgbClr val="FFFFFF"/>
                </a:solidFill>
                <a:latin typeface="Garet"/>
                <a:ea typeface="Garet"/>
                <a:cs typeface="Garet"/>
                <a:sym typeface="Garet"/>
                <a:rtl val="true"/>
              </a:rPr>
              <a:t>يشغ</a:t>
            </a:r>
            <a:r>
              <a:rPr lang="ar-EG" sz="2025">
                <a:solidFill>
                  <a:srgbClr val="FFFFFF"/>
                </a:solidFill>
                <a:latin typeface="Garet"/>
                <a:ea typeface="Garet"/>
                <a:cs typeface="Garet"/>
                <a:sym typeface="Garet"/>
                <a:rtl val="true"/>
              </a:rPr>
              <a:t>ل الصوت المناسب عند كل حدث عملة، فوز، أو خسارة</a:t>
            </a:r>
          </a:p>
        </p:txBody>
      </p:sp>
      <p:sp>
        <p:nvSpPr>
          <p:cNvPr name="TextBox 24" id="24"/>
          <p:cNvSpPr txBox="true"/>
          <p:nvPr/>
        </p:nvSpPr>
        <p:spPr>
          <a:xfrm rot="0">
            <a:off x="2502582" y="7349761"/>
            <a:ext cx="1539892" cy="324696"/>
          </a:xfrm>
          <a:prstGeom prst="rect">
            <a:avLst/>
          </a:prstGeom>
        </p:spPr>
        <p:txBody>
          <a:bodyPr anchor="t" rtlCol="false" tIns="0" lIns="0" bIns="0" rIns="0">
            <a:spAutoFit/>
          </a:bodyPr>
          <a:lstStyle/>
          <a:p>
            <a:pPr algn="ctr" rtl="true" marL="0" indent="0" lvl="0">
              <a:lnSpc>
                <a:spcPts val="2571"/>
              </a:lnSpc>
              <a:spcBef>
                <a:spcPct val="0"/>
              </a:spcBef>
            </a:pPr>
            <a:r>
              <a:rPr lang="en-US" b="true" sz="2024">
                <a:solidFill>
                  <a:srgbClr val="FFFFFF"/>
                </a:solidFill>
                <a:latin typeface="Garet Bold"/>
                <a:ea typeface="Garet Bold"/>
                <a:cs typeface="Garet Bold"/>
                <a:sym typeface="Garet Bold"/>
              </a:rPr>
              <a:t>GamePa</a:t>
            </a:r>
            <a:r>
              <a:rPr lang="en-US" b="true" sz="2024" strike="noStrike" u="none">
                <a:solidFill>
                  <a:srgbClr val="FFFFFF"/>
                </a:solidFill>
                <a:latin typeface="Garet Bold"/>
                <a:ea typeface="Garet Bold"/>
                <a:cs typeface="Garet Bold"/>
                <a:sym typeface="Garet Bold"/>
              </a:rPr>
              <a:t>n</a:t>
            </a:r>
            <a:r>
              <a:rPr lang="en-US" b="true" sz="2024" strike="noStrike" u="none">
                <a:solidFill>
                  <a:srgbClr val="FFFFFF"/>
                </a:solidFill>
                <a:latin typeface="Garet Bold"/>
                <a:ea typeface="Garet Bold"/>
                <a:cs typeface="Garet Bold"/>
                <a:sym typeface="Garet Bold"/>
              </a:rPr>
              <a:t>e</a:t>
            </a:r>
            <a:r>
              <a:rPr lang="en-US" b="true" sz="2024" strike="noStrike" u="none">
                <a:solidFill>
                  <a:srgbClr val="FFFFFF"/>
                </a:solidFill>
                <a:latin typeface="Garet Bold"/>
                <a:ea typeface="Garet Bold"/>
                <a:cs typeface="Garet Bold"/>
                <a:sym typeface="Garet Bold"/>
              </a:rPr>
              <a:t>l</a:t>
            </a:r>
          </a:p>
        </p:txBody>
      </p:sp>
      <p:sp>
        <p:nvSpPr>
          <p:cNvPr name="TextBox 25" id="25"/>
          <p:cNvSpPr txBox="true"/>
          <p:nvPr/>
        </p:nvSpPr>
        <p:spPr>
          <a:xfrm rot="0">
            <a:off x="2062814" y="7950682"/>
            <a:ext cx="2562848" cy="972598"/>
          </a:xfrm>
          <a:prstGeom prst="rect">
            <a:avLst/>
          </a:prstGeom>
        </p:spPr>
        <p:txBody>
          <a:bodyPr anchor="t" rtlCol="false" tIns="0" lIns="0" bIns="0" rIns="0">
            <a:spAutoFit/>
          </a:bodyPr>
          <a:lstStyle/>
          <a:p>
            <a:pPr algn="ctr" rtl="true" marL="0" indent="0" lvl="0">
              <a:lnSpc>
                <a:spcPts val="2571"/>
              </a:lnSpc>
              <a:spcBef>
                <a:spcPct val="0"/>
              </a:spcBef>
            </a:pPr>
            <a:r>
              <a:rPr lang="ar-EG" sz="2025">
                <a:solidFill>
                  <a:srgbClr val="FFFFFF"/>
                </a:solidFill>
                <a:latin typeface="Garet"/>
                <a:ea typeface="Garet"/>
                <a:cs typeface="Garet"/>
                <a:sym typeface="Garet"/>
                <a:rtl val="true"/>
              </a:rPr>
              <a:t>يغير حالة اللعبة يعرض شاشة</a:t>
            </a:r>
            <a:r>
              <a:rPr lang="ar-EG" sz="2025" strike="noStrike" u="none">
                <a:solidFill>
                  <a:srgbClr val="FFFFFF"/>
                </a:solidFill>
                <a:latin typeface="Garet"/>
                <a:ea typeface="Garet"/>
                <a:cs typeface="Garet"/>
                <a:sym typeface="Garet"/>
                <a:rtl val="true"/>
              </a:rPr>
              <a:t> </a:t>
            </a:r>
            <a:r>
              <a:rPr lang="ar-EG" sz="2025" strike="noStrike" u="none">
                <a:solidFill>
                  <a:srgbClr val="FFFFFF"/>
                </a:solidFill>
                <a:latin typeface="Garet"/>
                <a:ea typeface="Garet"/>
                <a:cs typeface="Garet"/>
                <a:sym typeface="Garet"/>
                <a:rtl val="true"/>
              </a:rPr>
              <a:t>ال</a:t>
            </a:r>
            <a:r>
              <a:rPr lang="ar-EG" sz="2025" strike="noStrike" u="none">
                <a:solidFill>
                  <a:srgbClr val="FFFFFF"/>
                </a:solidFill>
                <a:latin typeface="Garet"/>
                <a:ea typeface="Garet"/>
                <a:cs typeface="Garet"/>
                <a:sym typeface="Garet"/>
                <a:rtl val="true"/>
              </a:rPr>
              <a:t>فوز أو ال</a:t>
            </a:r>
            <a:r>
              <a:rPr lang="ar-EG" sz="2025" strike="noStrike" u="none">
                <a:solidFill>
                  <a:srgbClr val="FFFFFF"/>
                </a:solidFill>
                <a:latin typeface="Garet"/>
                <a:ea typeface="Garet"/>
                <a:cs typeface="Garet"/>
                <a:sym typeface="Garet"/>
                <a:rtl val="true"/>
              </a:rPr>
              <a:t>خس</a:t>
            </a:r>
            <a:r>
              <a:rPr lang="ar-EG" sz="2025" strike="noStrike" u="none">
                <a:solidFill>
                  <a:srgbClr val="FFFFFF"/>
                </a:solidFill>
                <a:latin typeface="Garet"/>
                <a:ea typeface="Garet"/>
                <a:cs typeface="Garet"/>
                <a:sym typeface="Garet"/>
                <a:rtl val="true"/>
              </a:rPr>
              <a:t>ا</a:t>
            </a:r>
            <a:r>
              <a:rPr lang="ar-EG" sz="2025" strike="noStrike" u="none">
                <a:solidFill>
                  <a:srgbClr val="FFFFFF"/>
                </a:solidFill>
                <a:latin typeface="Garet"/>
                <a:ea typeface="Garet"/>
                <a:cs typeface="Garet"/>
                <a:sym typeface="Garet"/>
                <a:rtl val="true"/>
              </a:rPr>
              <a:t>رة</a:t>
            </a:r>
            <a:r>
              <a:rPr lang="ar-EG" sz="2025" strike="noStrike" u="none">
                <a:solidFill>
                  <a:srgbClr val="FFFFFF"/>
                </a:solidFill>
                <a:latin typeface="Garet"/>
                <a:ea typeface="Garet"/>
                <a:cs typeface="Garet"/>
                <a:sym typeface="Garet"/>
                <a:rtl val="true"/>
              </a:rPr>
              <a:t> عند استقبال الحدث</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grpSp>
        <p:nvGrpSpPr>
          <p:cNvPr name="Group 2" id="2"/>
          <p:cNvGrpSpPr/>
          <p:nvPr/>
        </p:nvGrpSpPr>
        <p:grpSpPr>
          <a:xfrm rot="0">
            <a:off x="9316692" y="2265344"/>
            <a:ext cx="7133880" cy="6098679"/>
            <a:chOff x="0" y="0"/>
            <a:chExt cx="2530207" cy="2163048"/>
          </a:xfrm>
        </p:grpSpPr>
        <p:sp>
          <p:nvSpPr>
            <p:cNvPr name="Freeform 3" id="3"/>
            <p:cNvSpPr/>
            <p:nvPr/>
          </p:nvSpPr>
          <p:spPr>
            <a:xfrm flipH="false" flipV="false" rot="0">
              <a:off x="0" y="0"/>
              <a:ext cx="2530207" cy="2163048"/>
            </a:xfrm>
            <a:custGeom>
              <a:avLst/>
              <a:gdLst/>
              <a:ahLst/>
              <a:cxnLst/>
              <a:rect r="r" b="b" t="t" l="l"/>
              <a:pathLst>
                <a:path h="2163048" w="2530207">
                  <a:moveTo>
                    <a:pt x="2497650" y="0"/>
                  </a:moveTo>
                  <a:lnTo>
                    <a:pt x="32557" y="0"/>
                  </a:lnTo>
                  <a:cubicBezTo>
                    <a:pt x="14576" y="0"/>
                    <a:pt x="0" y="14576"/>
                    <a:pt x="0" y="32557"/>
                  </a:cubicBezTo>
                  <a:lnTo>
                    <a:pt x="0" y="2130491"/>
                  </a:lnTo>
                  <a:cubicBezTo>
                    <a:pt x="0" y="2139125"/>
                    <a:pt x="3430" y="2147406"/>
                    <a:pt x="9536" y="2153512"/>
                  </a:cubicBezTo>
                  <a:cubicBezTo>
                    <a:pt x="15641" y="2159618"/>
                    <a:pt x="23922" y="2163048"/>
                    <a:pt x="32557" y="2163048"/>
                  </a:cubicBezTo>
                  <a:lnTo>
                    <a:pt x="2497650" y="2163048"/>
                  </a:lnTo>
                  <a:cubicBezTo>
                    <a:pt x="2515631" y="2163048"/>
                    <a:pt x="2530207" y="2148471"/>
                    <a:pt x="2530207" y="2130491"/>
                  </a:cubicBezTo>
                  <a:lnTo>
                    <a:pt x="2530207" y="32557"/>
                  </a:lnTo>
                  <a:cubicBezTo>
                    <a:pt x="2530207" y="23922"/>
                    <a:pt x="2526777" y="15641"/>
                    <a:pt x="2520672" y="9536"/>
                  </a:cubicBezTo>
                  <a:cubicBezTo>
                    <a:pt x="2514566" y="3430"/>
                    <a:pt x="2506285" y="0"/>
                    <a:pt x="2497650" y="0"/>
                  </a:cubicBezTo>
                  <a:close/>
                </a:path>
              </a:pathLst>
            </a:custGeom>
            <a:blipFill>
              <a:blip r:embed="rId2"/>
              <a:stretch>
                <a:fillRect l="0" t="-8487" r="0" b="-8487"/>
              </a:stretch>
            </a:blipFill>
            <a:ln w="95250" cap="rnd">
              <a:solidFill>
                <a:srgbClr val="7ED957"/>
              </a:solidFill>
              <a:prstDash val="solid"/>
              <a:round/>
            </a:ln>
          </p:spPr>
        </p:sp>
      </p:grpSp>
      <p:sp>
        <p:nvSpPr>
          <p:cNvPr name="AutoShape 4" id="4"/>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5" id="5"/>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5400000">
            <a:off x="493806" y="7026853"/>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5400000">
            <a:off x="17721031" y="1866218"/>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370671" y="2365005"/>
            <a:ext cx="5919534" cy="962660"/>
          </a:xfrm>
          <a:prstGeom prst="rect">
            <a:avLst/>
          </a:prstGeom>
        </p:spPr>
        <p:txBody>
          <a:bodyPr anchor="t" rtlCol="false" tIns="0" lIns="0" bIns="0" rIns="0">
            <a:spAutoFit/>
          </a:bodyPr>
          <a:lstStyle/>
          <a:p>
            <a:pPr algn="r" rtl="true" marL="0" indent="0" lvl="0">
              <a:lnSpc>
                <a:spcPts val="7840"/>
              </a:lnSpc>
              <a:spcBef>
                <a:spcPct val="0"/>
              </a:spcBef>
            </a:pPr>
            <a:r>
              <a:rPr lang="ar-EG" b="true" sz="5600">
                <a:solidFill>
                  <a:srgbClr val="FFFFFF"/>
                </a:solidFill>
                <a:latin typeface="Proxima Nova Bold"/>
                <a:ea typeface="Proxima Nova Bold"/>
                <a:cs typeface="Proxima Nova Bold"/>
                <a:sym typeface="Proxima Nova Bold"/>
                <a:rtl val="true"/>
              </a:rPr>
              <a:t>نمط </a:t>
            </a:r>
            <a:r>
              <a:rPr lang="en-US" b="true" sz="5600">
                <a:solidFill>
                  <a:srgbClr val="FFFFFF"/>
                </a:solidFill>
                <a:latin typeface="Proxima Nova Bold"/>
                <a:ea typeface="Proxima Nova Bold"/>
                <a:cs typeface="Proxima Nova Bold"/>
                <a:sym typeface="Proxima Nova Bold"/>
              </a:rPr>
              <a:t>Observer</a:t>
            </a:r>
          </a:p>
        </p:txBody>
      </p:sp>
      <p:sp>
        <p:nvSpPr>
          <p:cNvPr name="TextBox 10" id="10"/>
          <p:cNvSpPr txBox="true"/>
          <p:nvPr/>
        </p:nvSpPr>
        <p:spPr>
          <a:xfrm rot="0">
            <a:off x="2370671" y="3242754"/>
            <a:ext cx="5919534" cy="962660"/>
          </a:xfrm>
          <a:prstGeom prst="rect">
            <a:avLst/>
          </a:prstGeom>
        </p:spPr>
        <p:txBody>
          <a:bodyPr anchor="t" rtlCol="false" tIns="0" lIns="0" bIns="0" rIns="0">
            <a:spAutoFit/>
          </a:bodyPr>
          <a:lstStyle/>
          <a:p>
            <a:pPr algn="r" rtl="true" marL="0" indent="0" lvl="0">
              <a:lnSpc>
                <a:spcPts val="7840"/>
              </a:lnSpc>
              <a:spcBef>
                <a:spcPct val="0"/>
              </a:spcBef>
            </a:pPr>
            <a:r>
              <a:rPr lang="ar-EG" b="true" sz="5600">
                <a:solidFill>
                  <a:srgbClr val="7ED957"/>
                </a:solidFill>
                <a:latin typeface="Proxima Nova Bold"/>
                <a:ea typeface="Proxima Nova Bold"/>
                <a:cs typeface="Proxima Nova Bold"/>
                <a:sym typeface="Proxima Nova Bold"/>
                <a:rtl val="true"/>
              </a:rPr>
              <a:t>سؤال جواب</a:t>
            </a:r>
          </a:p>
        </p:txBody>
      </p:sp>
      <p:sp>
        <p:nvSpPr>
          <p:cNvPr name="TextBox 11" id="11"/>
          <p:cNvSpPr txBox="true"/>
          <p:nvPr/>
        </p:nvSpPr>
        <p:spPr>
          <a:xfrm rot="0">
            <a:off x="2047139" y="5267059"/>
            <a:ext cx="6243066" cy="1054100"/>
          </a:xfrm>
          <a:prstGeom prst="rect">
            <a:avLst/>
          </a:prstGeom>
        </p:spPr>
        <p:txBody>
          <a:bodyPr anchor="t" rtlCol="false" tIns="0" lIns="0" bIns="0" rIns="0">
            <a:spAutoFit/>
          </a:bodyPr>
          <a:lstStyle/>
          <a:p>
            <a:pPr algn="r" rtl="true" marL="0" indent="0" lvl="0">
              <a:lnSpc>
                <a:spcPts val="2800"/>
              </a:lnSpc>
              <a:spcBef>
                <a:spcPct val="0"/>
              </a:spcBef>
            </a:pPr>
            <a:r>
              <a:rPr lang="ar-EG" sz="2000">
                <a:solidFill>
                  <a:srgbClr val="FFFFFF"/>
                </a:solidFill>
                <a:latin typeface="Open Sans"/>
                <a:ea typeface="Open Sans"/>
                <a:cs typeface="Open Sans"/>
                <a:sym typeface="Open Sans"/>
                <a:rtl val="true"/>
              </a:rPr>
              <a:t>سؤال: لماذا لا تربط </a:t>
            </a:r>
            <a:r>
              <a:rPr lang="en-US" sz="2000">
                <a:solidFill>
                  <a:srgbClr val="FFFFFF"/>
                </a:solidFill>
                <a:latin typeface="Open Sans"/>
                <a:ea typeface="Open Sans"/>
                <a:cs typeface="Open Sans"/>
                <a:sym typeface="Open Sans"/>
              </a:rPr>
              <a:t>Player</a:t>
            </a:r>
            <a:r>
              <a:rPr lang="ar-EG" sz="2000">
                <a:solidFill>
                  <a:srgbClr val="FFFFFF"/>
                </a:solidFill>
                <a:latin typeface="Open Sans"/>
                <a:ea typeface="Open Sans"/>
                <a:cs typeface="Open Sans"/>
                <a:sym typeface="Open Sans"/>
                <a:rtl val="true"/>
              </a:rPr>
              <a:t> مباشرة بالكائنات الأخرى مثل </a:t>
            </a:r>
            <a:r>
              <a:rPr lang="en-US" sz="2000">
                <a:solidFill>
                  <a:srgbClr val="FFFFFF"/>
                </a:solidFill>
                <a:latin typeface="Open Sans"/>
                <a:ea typeface="Open Sans"/>
                <a:cs typeface="Open Sans"/>
                <a:sym typeface="Open Sans"/>
              </a:rPr>
              <a:t>CoinManager</a:t>
            </a:r>
            <a:r>
              <a:rPr lang="ar-EG" sz="2000">
                <a:solidFill>
                  <a:srgbClr val="FFFFFF"/>
                </a:solidFill>
                <a:latin typeface="Open Sans"/>
                <a:ea typeface="Open Sans"/>
                <a:cs typeface="Open Sans"/>
                <a:sym typeface="Open Sans"/>
                <a:rtl val="true"/>
              </a:rPr>
              <a:t> و </a:t>
            </a:r>
            <a:r>
              <a:rPr lang="en-US" sz="2000">
                <a:solidFill>
                  <a:srgbClr val="FFFFFF"/>
                </a:solidFill>
                <a:latin typeface="Open Sans"/>
                <a:ea typeface="Open Sans"/>
                <a:cs typeface="Open Sans"/>
                <a:sym typeface="Open Sans"/>
              </a:rPr>
              <a:t>DoorController</a:t>
            </a:r>
            <a:r>
              <a:rPr lang="ar-EG" sz="2000">
                <a:solidFill>
                  <a:srgbClr val="FFFFFF"/>
                </a:solidFill>
                <a:latin typeface="Open Sans"/>
                <a:ea typeface="Open Sans"/>
                <a:cs typeface="Open Sans"/>
                <a:sym typeface="Open Sans"/>
                <a:rtl val="true"/>
              </a:rPr>
              <a:t> بدلاً من استخدام نظام الأحداث؟</a:t>
            </a:r>
          </a:p>
        </p:txBody>
      </p:sp>
      <p:sp>
        <p:nvSpPr>
          <p:cNvPr name="TextBox 12" id="12"/>
          <p:cNvSpPr txBox="true"/>
          <p:nvPr/>
        </p:nvSpPr>
        <p:spPr>
          <a:xfrm rot="0">
            <a:off x="2047139" y="6753595"/>
            <a:ext cx="6243066" cy="1054100"/>
          </a:xfrm>
          <a:prstGeom prst="rect">
            <a:avLst/>
          </a:prstGeom>
        </p:spPr>
        <p:txBody>
          <a:bodyPr anchor="t" rtlCol="false" tIns="0" lIns="0" bIns="0" rIns="0">
            <a:spAutoFit/>
          </a:bodyPr>
          <a:lstStyle/>
          <a:p>
            <a:pPr algn="r" rtl="true" marL="0" indent="0" lvl="0">
              <a:lnSpc>
                <a:spcPts val="2800"/>
              </a:lnSpc>
              <a:spcBef>
                <a:spcPct val="0"/>
              </a:spcBef>
            </a:pPr>
            <a:r>
              <a:rPr lang="ar-EG" sz="2000">
                <a:solidFill>
                  <a:srgbClr val="FFFFFF"/>
                </a:solidFill>
                <a:latin typeface="Open Sans"/>
                <a:ea typeface="Open Sans"/>
                <a:cs typeface="Open Sans"/>
                <a:sym typeface="Open Sans"/>
                <a:rtl val="true"/>
              </a:rPr>
              <a:t>جواب: الربط المباشر يزيد الاقتران ويصعب الصيانة. </a:t>
            </a:r>
            <a:r>
              <a:rPr lang="en-US" sz="2000">
                <a:solidFill>
                  <a:srgbClr val="FFFFFF"/>
                </a:solidFill>
                <a:latin typeface="Open Sans"/>
                <a:ea typeface="Open Sans"/>
                <a:cs typeface="Open Sans"/>
                <a:sym typeface="Open Sans"/>
              </a:rPr>
              <a:t>Observer</a:t>
            </a:r>
            <a:r>
              <a:rPr lang="ar-EG" sz="2000">
                <a:solidFill>
                  <a:srgbClr val="FFFFFF"/>
                </a:solidFill>
                <a:latin typeface="Open Sans"/>
                <a:ea typeface="Open Sans"/>
                <a:cs typeface="Open Sans"/>
                <a:sym typeface="Open Sans"/>
                <a:rtl val="true"/>
              </a:rPr>
              <a:t> يفصل المصدر عن المتلقين، ويجعل إضافة تفاعلات جديدة سهلة بدون تعديل </a:t>
            </a:r>
            <a:r>
              <a:rPr lang="en-US" sz="2000">
                <a:solidFill>
                  <a:srgbClr val="FFFFFF"/>
                </a:solidFill>
                <a:latin typeface="Open Sans"/>
                <a:ea typeface="Open Sans"/>
                <a:cs typeface="Open Sans"/>
                <a:sym typeface="Open Sans"/>
              </a:rPr>
              <a:t>Player</a:t>
            </a:r>
            <a:r>
              <a:rPr lang="ar-EG" sz="2000">
                <a:solidFill>
                  <a:srgbClr val="FFFFFF"/>
                </a:solidFill>
                <a:latin typeface="Open Sans"/>
                <a:ea typeface="Open Sans"/>
                <a:cs typeface="Open Sans"/>
                <a:sym typeface="Open Sans"/>
                <a:rtl val="true"/>
              </a:rPr>
              <a:t>.</a:t>
            </a:r>
          </a:p>
        </p:txBody>
      </p:sp>
      <p:sp>
        <p:nvSpPr>
          <p:cNvPr name="TextBox 13" id="13"/>
          <p:cNvSpPr txBox="true"/>
          <p:nvPr/>
        </p:nvSpPr>
        <p:spPr>
          <a:xfrm rot="0">
            <a:off x="3445439" y="4505701"/>
            <a:ext cx="4861603" cy="342392"/>
          </a:xfrm>
          <a:prstGeom prst="rect">
            <a:avLst/>
          </a:prstGeom>
        </p:spPr>
        <p:txBody>
          <a:bodyPr anchor="t" rtlCol="false" tIns="0" lIns="0" bIns="0" rIns="0">
            <a:spAutoFit/>
          </a:bodyPr>
          <a:lstStyle/>
          <a:p>
            <a:pPr algn="r" rtl="true" marL="0" indent="0" lvl="0">
              <a:lnSpc>
                <a:spcPts val="2794"/>
              </a:lnSpc>
            </a:pPr>
            <a:r>
              <a:rPr lang="ar-EG" b="true" sz="2200">
                <a:solidFill>
                  <a:srgbClr val="FFFFFF"/>
                </a:solidFill>
                <a:latin typeface="Proxima Nova Bold"/>
                <a:ea typeface="Proxima Nova Bold"/>
                <a:cs typeface="Proxima Nova Bold"/>
                <a:sym typeface="Proxima Nova Bold"/>
                <a:rtl val="true"/>
              </a:rPr>
              <a:t>لماذا لا تربط </a:t>
            </a:r>
            <a:r>
              <a:rPr lang="en-US" b="true" sz="2200">
                <a:solidFill>
                  <a:srgbClr val="FFFFFF"/>
                </a:solidFill>
                <a:latin typeface="Proxima Nova Bold"/>
                <a:ea typeface="Proxima Nova Bold"/>
                <a:cs typeface="Proxima Nova Bold"/>
                <a:sym typeface="Proxima Nova Bold"/>
              </a:rPr>
              <a:t>Player</a:t>
            </a:r>
            <a:r>
              <a:rPr lang="ar-EG" b="true" sz="2200">
                <a:solidFill>
                  <a:srgbClr val="FFFFFF"/>
                </a:solidFill>
                <a:latin typeface="Proxima Nova Bold"/>
                <a:ea typeface="Proxima Nova Bold"/>
                <a:cs typeface="Proxima Nova Bold"/>
                <a:sym typeface="Proxima Nova Bold"/>
                <a:rtl val="true"/>
              </a:rPr>
              <a:t> مباشرة بالكائنات؟</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sp>
        <p:nvSpPr>
          <p:cNvPr name="AutoShape 2" id="2"/>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3" id="3"/>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082153" y="833522"/>
            <a:ext cx="354294" cy="390407"/>
          </a:xfrm>
          <a:custGeom>
            <a:avLst/>
            <a:gdLst/>
            <a:ahLst/>
            <a:cxnLst/>
            <a:rect r="r" b="b" t="t" l="l"/>
            <a:pathLst>
              <a:path h="390407" w="354294">
                <a:moveTo>
                  <a:pt x="354294" y="0"/>
                </a:moveTo>
                <a:lnTo>
                  <a:pt x="0" y="0"/>
                </a:lnTo>
                <a:lnTo>
                  <a:pt x="0" y="390406"/>
                </a:lnTo>
                <a:lnTo>
                  <a:pt x="354294" y="390406"/>
                </a:lnTo>
                <a:lnTo>
                  <a:pt x="3542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8684645" y="5596741"/>
            <a:ext cx="273577" cy="27357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solidFill>
              <a:srgbClr val="7ED957"/>
            </a:solidFill>
          </p:spPr>
        </p:sp>
        <p:sp>
          <p:nvSpPr>
            <p:cNvPr name="TextBox 8" id="8"/>
            <p:cNvSpPr txBox="true"/>
            <p:nvPr/>
          </p:nvSpPr>
          <p:spPr>
            <a:xfrm>
              <a:off x="76200" y="57150"/>
              <a:ext cx="660400" cy="679450"/>
            </a:xfrm>
            <a:prstGeom prst="rect">
              <a:avLst/>
            </a:prstGeom>
          </p:spPr>
          <p:txBody>
            <a:bodyPr anchor="ctr" rtlCol="false" tIns="50800" lIns="50800" bIns="50800" rIns="50800"/>
            <a:lstStyle/>
            <a:p>
              <a:pPr algn="ctr" rtl="true" marL="0" indent="0" lvl="0">
                <a:lnSpc>
                  <a:spcPts val="2540"/>
                </a:lnSpc>
              </a:pPr>
            </a:p>
          </p:txBody>
        </p:sp>
      </p:grpSp>
      <p:grpSp>
        <p:nvGrpSpPr>
          <p:cNvPr name="Group 9" id="9"/>
          <p:cNvGrpSpPr/>
          <p:nvPr/>
        </p:nvGrpSpPr>
        <p:grpSpPr>
          <a:xfrm rot="0">
            <a:off x="8684645" y="6530968"/>
            <a:ext cx="273577" cy="2735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solidFill>
              <a:srgbClr val="7ED957"/>
            </a:solidFill>
          </p:spPr>
        </p:sp>
        <p:sp>
          <p:nvSpPr>
            <p:cNvPr name="TextBox 11" id="11"/>
            <p:cNvSpPr txBox="true"/>
            <p:nvPr/>
          </p:nvSpPr>
          <p:spPr>
            <a:xfrm>
              <a:off x="76200" y="57150"/>
              <a:ext cx="660400" cy="679450"/>
            </a:xfrm>
            <a:prstGeom prst="rect">
              <a:avLst/>
            </a:prstGeom>
          </p:spPr>
          <p:txBody>
            <a:bodyPr anchor="ctr" rtlCol="false" tIns="50800" lIns="50800" bIns="50800" rIns="50800"/>
            <a:lstStyle/>
            <a:p>
              <a:pPr algn="ctr" rtl="true" marL="0" indent="0" lvl="0">
                <a:lnSpc>
                  <a:spcPts val="2540"/>
                </a:lnSpc>
              </a:pPr>
            </a:p>
          </p:txBody>
        </p:sp>
      </p:grpSp>
      <p:grpSp>
        <p:nvGrpSpPr>
          <p:cNvPr name="Group 12" id="12"/>
          <p:cNvGrpSpPr/>
          <p:nvPr/>
        </p:nvGrpSpPr>
        <p:grpSpPr>
          <a:xfrm rot="0">
            <a:off x="8684645" y="7465065"/>
            <a:ext cx="273577" cy="27357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solidFill>
              <a:srgbClr val="7ED957"/>
            </a:solidFill>
          </p:spPr>
        </p:sp>
        <p:sp>
          <p:nvSpPr>
            <p:cNvPr name="TextBox 14" id="14"/>
            <p:cNvSpPr txBox="true"/>
            <p:nvPr/>
          </p:nvSpPr>
          <p:spPr>
            <a:xfrm>
              <a:off x="76200" y="57150"/>
              <a:ext cx="660400" cy="679450"/>
            </a:xfrm>
            <a:prstGeom prst="rect">
              <a:avLst/>
            </a:prstGeom>
          </p:spPr>
          <p:txBody>
            <a:bodyPr anchor="ctr" rtlCol="false" tIns="50800" lIns="50800" bIns="50800" rIns="50800"/>
            <a:lstStyle/>
            <a:p>
              <a:pPr algn="ctr" rtl="true" marL="0" indent="0" lvl="0">
                <a:lnSpc>
                  <a:spcPts val="2540"/>
                </a:lnSpc>
              </a:pPr>
            </a:p>
          </p:txBody>
        </p:sp>
      </p:grpSp>
      <p:sp>
        <p:nvSpPr>
          <p:cNvPr name="Freeform 15" id="15"/>
          <p:cNvSpPr/>
          <p:nvPr/>
        </p:nvSpPr>
        <p:spPr>
          <a:xfrm flipH="true" flipV="false" rot="0">
            <a:off x="417122" y="4706927"/>
            <a:ext cx="1133938" cy="599570"/>
          </a:xfrm>
          <a:custGeom>
            <a:avLst/>
            <a:gdLst/>
            <a:ahLst/>
            <a:cxnLst/>
            <a:rect r="r" b="b" t="t" l="l"/>
            <a:pathLst>
              <a:path h="599570" w="1133938">
                <a:moveTo>
                  <a:pt x="1133938" y="0"/>
                </a:moveTo>
                <a:lnTo>
                  <a:pt x="0" y="0"/>
                </a:lnTo>
                <a:lnTo>
                  <a:pt x="0" y="599569"/>
                </a:lnTo>
                <a:lnTo>
                  <a:pt x="1133938" y="599569"/>
                </a:lnTo>
                <a:lnTo>
                  <a:pt x="113393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14309741" y="834605"/>
            <a:ext cx="2623970" cy="252377"/>
          </a:xfrm>
          <a:prstGeom prst="rect">
            <a:avLst/>
          </a:prstGeom>
        </p:spPr>
        <p:txBody>
          <a:bodyPr anchor="t" rtlCol="false" tIns="0" lIns="0" bIns="0" rIns="0">
            <a:spAutoFit/>
          </a:bodyPr>
          <a:lstStyle/>
          <a:p>
            <a:pPr algn="r" rtl="true" marL="0" indent="0" lvl="0">
              <a:lnSpc>
                <a:spcPts val="2046"/>
              </a:lnSpc>
            </a:pPr>
            <a:r>
              <a:rPr lang="ar-EG" b="true" sz="1611">
                <a:solidFill>
                  <a:srgbClr val="FFFFFF"/>
                </a:solidFill>
                <a:latin typeface="Garet Bold"/>
                <a:ea typeface="Garet Bold"/>
                <a:cs typeface="Garet Bold"/>
                <a:sym typeface="Garet Bold"/>
                <a:rtl val="true"/>
              </a:rPr>
              <a:t>أنماط التصميم</a:t>
            </a:r>
          </a:p>
        </p:txBody>
      </p:sp>
      <p:sp>
        <p:nvSpPr>
          <p:cNvPr name="TextBox 17" id="17"/>
          <p:cNvSpPr txBox="true"/>
          <p:nvPr/>
        </p:nvSpPr>
        <p:spPr>
          <a:xfrm rot="0">
            <a:off x="2157683" y="1971974"/>
            <a:ext cx="6800539" cy="695931"/>
          </a:xfrm>
          <a:prstGeom prst="rect">
            <a:avLst/>
          </a:prstGeom>
        </p:spPr>
        <p:txBody>
          <a:bodyPr anchor="t" rtlCol="false" tIns="0" lIns="0" bIns="0" rIns="0">
            <a:spAutoFit/>
          </a:bodyPr>
          <a:lstStyle/>
          <a:p>
            <a:pPr algn="r" rtl="true" marL="0" indent="0" lvl="0">
              <a:lnSpc>
                <a:spcPts val="5741"/>
              </a:lnSpc>
              <a:spcBef>
                <a:spcPct val="0"/>
              </a:spcBef>
            </a:pPr>
            <a:r>
              <a:rPr lang="ar-EG" b="true" sz="4101">
                <a:solidFill>
                  <a:srgbClr val="FFFFFF"/>
                </a:solidFill>
                <a:latin typeface="Proxima Nova Bold"/>
                <a:ea typeface="Proxima Nova Bold"/>
                <a:cs typeface="Proxima Nova Bold"/>
                <a:sym typeface="Proxima Nova Bold"/>
                <a:rtl val="true"/>
              </a:rPr>
              <a:t>ملخص الأنماط</a:t>
            </a:r>
          </a:p>
        </p:txBody>
      </p:sp>
      <p:sp>
        <p:nvSpPr>
          <p:cNvPr name="TextBox 18" id="18"/>
          <p:cNvSpPr txBox="true"/>
          <p:nvPr/>
        </p:nvSpPr>
        <p:spPr>
          <a:xfrm rot="0">
            <a:off x="1551060" y="2849723"/>
            <a:ext cx="7407162" cy="695931"/>
          </a:xfrm>
          <a:prstGeom prst="rect">
            <a:avLst/>
          </a:prstGeom>
        </p:spPr>
        <p:txBody>
          <a:bodyPr anchor="t" rtlCol="false" tIns="0" lIns="0" bIns="0" rIns="0">
            <a:spAutoFit/>
          </a:bodyPr>
          <a:lstStyle/>
          <a:p>
            <a:pPr algn="r" rtl="true" marL="0" indent="0" lvl="0">
              <a:lnSpc>
                <a:spcPts val="5741"/>
              </a:lnSpc>
              <a:spcBef>
                <a:spcPct val="0"/>
              </a:spcBef>
            </a:pPr>
            <a:r>
              <a:rPr lang="ar-EG" b="true" sz="4101">
                <a:solidFill>
                  <a:srgbClr val="7ED957"/>
                </a:solidFill>
                <a:latin typeface="Proxima Nova Bold"/>
                <a:ea typeface="Proxima Nova Bold"/>
                <a:cs typeface="Proxima Nova Bold"/>
                <a:sym typeface="Proxima Nova Bold"/>
                <a:rtl val="true"/>
              </a:rPr>
              <a:t>الثلاثة</a:t>
            </a:r>
          </a:p>
        </p:txBody>
      </p:sp>
      <p:sp>
        <p:nvSpPr>
          <p:cNvPr name="TextBox 19" id="19"/>
          <p:cNvSpPr txBox="true"/>
          <p:nvPr/>
        </p:nvSpPr>
        <p:spPr>
          <a:xfrm rot="0">
            <a:off x="2715156" y="3971662"/>
            <a:ext cx="6243066" cy="505722"/>
          </a:xfrm>
          <a:prstGeom prst="rect">
            <a:avLst/>
          </a:prstGeom>
        </p:spPr>
        <p:txBody>
          <a:bodyPr anchor="t" rtlCol="false" tIns="0" lIns="0" bIns="0" rIns="0">
            <a:spAutoFit/>
          </a:bodyPr>
          <a:lstStyle/>
          <a:p>
            <a:pPr algn="r" rtl="true" marL="0" indent="0" lvl="0">
              <a:lnSpc>
                <a:spcPts val="2050"/>
              </a:lnSpc>
              <a:spcBef>
                <a:spcPct val="0"/>
              </a:spcBef>
            </a:pPr>
            <a:r>
              <a:rPr lang="ar-EG" sz="1464">
                <a:solidFill>
                  <a:srgbClr val="FFFFFF"/>
                </a:solidFill>
                <a:latin typeface="Open Sans"/>
                <a:ea typeface="Open Sans"/>
                <a:cs typeface="Open Sans"/>
                <a:sym typeface="Open Sans"/>
                <a:rtl val="true"/>
              </a:rPr>
              <a:t>نظرة شاملة على كل نمط واستخدامه الأساسي في تطوير الألعاب لتحقيق كود منظم وقابل للتوسع.</a:t>
            </a:r>
          </a:p>
        </p:txBody>
      </p:sp>
      <p:sp>
        <p:nvSpPr>
          <p:cNvPr name="TextBox 20" id="20"/>
          <p:cNvSpPr txBox="true"/>
          <p:nvPr/>
        </p:nvSpPr>
        <p:spPr>
          <a:xfrm rot="0">
            <a:off x="2583026" y="5557571"/>
            <a:ext cx="5647551" cy="252377"/>
          </a:xfrm>
          <a:prstGeom prst="rect">
            <a:avLst/>
          </a:prstGeom>
        </p:spPr>
        <p:txBody>
          <a:bodyPr anchor="t" rtlCol="false" tIns="0" lIns="0" bIns="0" rIns="0">
            <a:spAutoFit/>
          </a:bodyPr>
          <a:lstStyle/>
          <a:p>
            <a:pPr algn="r" rtl="true" marL="0" indent="0" lvl="0">
              <a:lnSpc>
                <a:spcPts val="2046"/>
              </a:lnSpc>
            </a:pPr>
            <a:r>
              <a:rPr lang="en-US" b="true" sz="1611">
                <a:solidFill>
                  <a:srgbClr val="FFFFFF"/>
                </a:solidFill>
                <a:latin typeface="Garet Bold"/>
                <a:ea typeface="Garet Bold"/>
                <a:cs typeface="Garet Bold"/>
                <a:sym typeface="Garet Bold"/>
              </a:rPr>
              <a:t>Prototype</a:t>
            </a:r>
            <a:r>
              <a:rPr lang="ar-EG" b="true" sz="1611">
                <a:solidFill>
                  <a:srgbClr val="FFFFFF"/>
                </a:solidFill>
                <a:latin typeface="Garet Bold"/>
                <a:ea typeface="Garet Bold"/>
                <a:cs typeface="Garet Bold"/>
                <a:sym typeface="Garet Bold"/>
                <a:rtl val="true"/>
              </a:rPr>
              <a:t>: إنشاء نسخ متطابقة بسهولة من كائنات معقدة</a:t>
            </a:r>
          </a:p>
        </p:txBody>
      </p:sp>
      <p:sp>
        <p:nvSpPr>
          <p:cNvPr name="TextBox 21" id="21"/>
          <p:cNvSpPr txBox="true"/>
          <p:nvPr/>
        </p:nvSpPr>
        <p:spPr>
          <a:xfrm rot="0">
            <a:off x="2062814" y="6491798"/>
            <a:ext cx="6167764" cy="252377"/>
          </a:xfrm>
          <a:prstGeom prst="rect">
            <a:avLst/>
          </a:prstGeom>
        </p:spPr>
        <p:txBody>
          <a:bodyPr anchor="t" rtlCol="false" tIns="0" lIns="0" bIns="0" rIns="0">
            <a:spAutoFit/>
          </a:bodyPr>
          <a:lstStyle/>
          <a:p>
            <a:pPr algn="r" rtl="true" marL="0" indent="0" lvl="0">
              <a:lnSpc>
                <a:spcPts val="2046"/>
              </a:lnSpc>
            </a:pPr>
            <a:r>
              <a:rPr lang="en-US" b="true" sz="1611">
                <a:solidFill>
                  <a:srgbClr val="FFFFFF"/>
                </a:solidFill>
                <a:latin typeface="Garet Bold"/>
                <a:ea typeface="Garet Bold"/>
                <a:cs typeface="Garet Bold"/>
                <a:sym typeface="Garet Bold"/>
              </a:rPr>
              <a:t>Composite</a:t>
            </a:r>
            <a:r>
              <a:rPr lang="ar-EG" b="true" sz="1611">
                <a:solidFill>
                  <a:srgbClr val="FFFFFF"/>
                </a:solidFill>
                <a:latin typeface="Garet Bold"/>
                <a:ea typeface="Garet Bold"/>
                <a:cs typeface="Garet Bold"/>
                <a:sym typeface="Garet Bold"/>
                <a:rtl val="true"/>
              </a:rPr>
              <a:t>: تنظيم شجري للكائنات للتحديث والرسم الموحد</a:t>
            </a:r>
          </a:p>
        </p:txBody>
      </p:sp>
      <p:sp>
        <p:nvSpPr>
          <p:cNvPr name="TextBox 22" id="22"/>
          <p:cNvSpPr txBox="true"/>
          <p:nvPr/>
        </p:nvSpPr>
        <p:spPr>
          <a:xfrm rot="0">
            <a:off x="2157683" y="7425895"/>
            <a:ext cx="6072894" cy="252377"/>
          </a:xfrm>
          <a:prstGeom prst="rect">
            <a:avLst/>
          </a:prstGeom>
        </p:spPr>
        <p:txBody>
          <a:bodyPr anchor="t" rtlCol="false" tIns="0" lIns="0" bIns="0" rIns="0">
            <a:spAutoFit/>
          </a:bodyPr>
          <a:lstStyle/>
          <a:p>
            <a:pPr algn="r" rtl="true" marL="0" indent="0" lvl="0">
              <a:lnSpc>
                <a:spcPts val="2046"/>
              </a:lnSpc>
            </a:pPr>
            <a:r>
              <a:rPr lang="en-US" b="true" sz="1611">
                <a:solidFill>
                  <a:srgbClr val="FFFFFF"/>
                </a:solidFill>
                <a:latin typeface="Garet Bold"/>
                <a:ea typeface="Garet Bold"/>
                <a:cs typeface="Garet Bold"/>
                <a:sym typeface="Garet Bold"/>
              </a:rPr>
              <a:t>Observer</a:t>
            </a:r>
            <a:r>
              <a:rPr lang="ar-EG" b="true" sz="1611">
                <a:solidFill>
                  <a:srgbClr val="FFFFFF"/>
                </a:solidFill>
                <a:latin typeface="Garet Bold"/>
                <a:ea typeface="Garet Bold"/>
                <a:cs typeface="Garet Bold"/>
                <a:sym typeface="Garet Bold"/>
                <a:rtl val="true"/>
              </a:rPr>
              <a:t>: فصل الأحداث عن ردود الفعل لزيادة المرونة</a:t>
            </a:r>
          </a:p>
        </p:txBody>
      </p:sp>
      <p:sp>
        <p:nvSpPr>
          <p:cNvPr name="Freeform 23" id="23"/>
          <p:cNvSpPr/>
          <p:nvPr/>
        </p:nvSpPr>
        <p:spPr>
          <a:xfrm flipH="false" flipV="false" rot="0">
            <a:off x="10406335" y="1828232"/>
            <a:ext cx="6356958" cy="6356958"/>
          </a:xfrm>
          <a:custGeom>
            <a:avLst/>
            <a:gdLst/>
            <a:ahLst/>
            <a:cxnLst/>
            <a:rect r="r" b="b" t="t" l="l"/>
            <a:pathLst>
              <a:path h="6356958" w="6356958">
                <a:moveTo>
                  <a:pt x="0" y="0"/>
                </a:moveTo>
                <a:lnTo>
                  <a:pt x="6356958" y="0"/>
                </a:lnTo>
                <a:lnTo>
                  <a:pt x="6356958" y="6356959"/>
                </a:lnTo>
                <a:lnTo>
                  <a:pt x="0" y="6356959"/>
                </a:lnTo>
                <a:lnTo>
                  <a:pt x="0" y="0"/>
                </a:lnTo>
                <a:close/>
              </a:path>
            </a:pathLst>
          </a:custGeom>
          <a:blipFill>
            <a:blip r:embed="rId10"/>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sp>
        <p:nvSpPr>
          <p:cNvPr name="AutoShape 2" id="2"/>
          <p:cNvSpPr/>
          <p:nvPr/>
        </p:nvSpPr>
        <p:spPr>
          <a:xfrm>
            <a:off x="2066925" y="9239250"/>
            <a:ext cx="15192375" cy="0"/>
          </a:xfrm>
          <a:prstGeom prst="line">
            <a:avLst/>
          </a:prstGeom>
          <a:ln cap="rnd" w="38100">
            <a:solidFill>
              <a:srgbClr val="FFFFFF"/>
            </a:solidFill>
            <a:prstDash val="solid"/>
            <a:headEnd type="none" len="sm" w="sm"/>
            <a:tailEnd type="none" len="sm" w="sm"/>
          </a:ln>
        </p:spPr>
      </p:sp>
      <p:sp>
        <p:nvSpPr>
          <p:cNvPr name="Freeform 3" id="3"/>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082153" y="833522"/>
            <a:ext cx="354294" cy="390407"/>
          </a:xfrm>
          <a:custGeom>
            <a:avLst/>
            <a:gdLst/>
            <a:ahLst/>
            <a:cxnLst/>
            <a:rect r="r" b="b" t="t" l="l"/>
            <a:pathLst>
              <a:path h="390407" w="354294">
                <a:moveTo>
                  <a:pt x="354294" y="0"/>
                </a:moveTo>
                <a:lnTo>
                  <a:pt x="0" y="0"/>
                </a:lnTo>
                <a:lnTo>
                  <a:pt x="0" y="390406"/>
                </a:lnTo>
                <a:lnTo>
                  <a:pt x="354294" y="390406"/>
                </a:lnTo>
                <a:lnTo>
                  <a:pt x="3542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0" y="1524000"/>
            <a:ext cx="2543175" cy="323850"/>
            <a:chOff x="0" y="0"/>
            <a:chExt cx="3390900" cy="431800"/>
          </a:xfrm>
        </p:grpSpPr>
        <p:sp>
          <p:nvSpPr>
            <p:cNvPr name="Freeform 7" id="7"/>
            <p:cNvSpPr/>
            <p:nvPr/>
          </p:nvSpPr>
          <p:spPr>
            <a:xfrm flipH="false" flipV="false" rot="0">
              <a:off x="0" y="0"/>
              <a:ext cx="3390900" cy="431800"/>
            </a:xfrm>
            <a:custGeom>
              <a:avLst/>
              <a:gdLst/>
              <a:ahLst/>
              <a:cxnLst/>
              <a:rect r="r" b="b" t="t" l="l"/>
              <a:pathLst>
                <a:path h="431800" w="3390900">
                  <a:moveTo>
                    <a:pt x="0" y="0"/>
                  </a:moveTo>
                  <a:lnTo>
                    <a:pt x="3390900" y="0"/>
                  </a:lnTo>
                  <a:lnTo>
                    <a:pt x="3390900" y="431800"/>
                  </a:lnTo>
                  <a:lnTo>
                    <a:pt x="0" y="431800"/>
                  </a:lnTo>
                  <a:close/>
                </a:path>
              </a:pathLst>
            </a:custGeom>
            <a:solidFill>
              <a:srgbClr val="7ED957"/>
            </a:solidFill>
          </p:spPr>
        </p:sp>
      </p:grpSp>
      <p:grpSp>
        <p:nvGrpSpPr>
          <p:cNvPr name="Group 8" id="8"/>
          <p:cNvGrpSpPr/>
          <p:nvPr/>
        </p:nvGrpSpPr>
        <p:grpSpPr>
          <a:xfrm rot="0">
            <a:off x="15744825" y="1524000"/>
            <a:ext cx="2543175" cy="323850"/>
            <a:chOff x="0" y="0"/>
            <a:chExt cx="3390900" cy="431800"/>
          </a:xfrm>
        </p:grpSpPr>
        <p:sp>
          <p:nvSpPr>
            <p:cNvPr name="Freeform 9" id="9"/>
            <p:cNvSpPr/>
            <p:nvPr/>
          </p:nvSpPr>
          <p:spPr>
            <a:xfrm flipH="false" flipV="false" rot="0">
              <a:off x="0" y="0"/>
              <a:ext cx="3390900" cy="431800"/>
            </a:xfrm>
            <a:custGeom>
              <a:avLst/>
              <a:gdLst/>
              <a:ahLst/>
              <a:cxnLst/>
              <a:rect r="r" b="b" t="t" l="l"/>
              <a:pathLst>
                <a:path h="431800" w="3390900">
                  <a:moveTo>
                    <a:pt x="0" y="0"/>
                  </a:moveTo>
                  <a:lnTo>
                    <a:pt x="3390900" y="0"/>
                  </a:lnTo>
                  <a:lnTo>
                    <a:pt x="3390900" y="431800"/>
                  </a:lnTo>
                  <a:lnTo>
                    <a:pt x="0" y="431800"/>
                  </a:lnTo>
                  <a:close/>
                </a:path>
              </a:pathLst>
            </a:custGeom>
            <a:solidFill>
              <a:srgbClr val="7ED957"/>
            </a:solidFill>
          </p:spPr>
        </p:sp>
      </p:grpSp>
      <p:sp>
        <p:nvSpPr>
          <p:cNvPr name="TextBox 10" id="10"/>
          <p:cNvSpPr txBox="true"/>
          <p:nvPr/>
        </p:nvSpPr>
        <p:spPr>
          <a:xfrm rot="0">
            <a:off x="5334000" y="942975"/>
            <a:ext cx="7620000" cy="685800"/>
          </a:xfrm>
          <a:prstGeom prst="rect">
            <a:avLst/>
          </a:prstGeom>
        </p:spPr>
        <p:txBody>
          <a:bodyPr anchor="t" rtlCol="false" tIns="0" lIns="0" bIns="0" rIns="0">
            <a:spAutoFit/>
          </a:bodyPr>
          <a:lstStyle/>
          <a:p>
            <a:pPr algn="ctr" marL="0" indent="0" lvl="0">
              <a:lnSpc>
                <a:spcPts val="5328"/>
              </a:lnSpc>
              <a:spcBef>
                <a:spcPct val="0"/>
              </a:spcBef>
            </a:pPr>
            <a:r>
              <a:rPr lang="en-US" sz="4440" strike="noStrike" u="none">
                <a:solidFill>
                  <a:srgbClr val="7ED957"/>
                </a:solidFill>
                <a:latin typeface="Garet"/>
                <a:ea typeface="Garet"/>
                <a:cs typeface="Garet"/>
                <a:sym typeface="Garet"/>
              </a:rPr>
              <a:t>SOLID</a:t>
            </a:r>
          </a:p>
        </p:txBody>
      </p:sp>
      <p:sp>
        <p:nvSpPr>
          <p:cNvPr name="TextBox 11" id="11"/>
          <p:cNvSpPr txBox="true"/>
          <p:nvPr/>
        </p:nvSpPr>
        <p:spPr>
          <a:xfrm rot="0">
            <a:off x="2667000" y="7915275"/>
            <a:ext cx="13335000" cy="503555"/>
          </a:xfrm>
          <a:prstGeom prst="rect">
            <a:avLst/>
          </a:prstGeom>
        </p:spPr>
        <p:txBody>
          <a:bodyPr anchor="t" rtlCol="false" tIns="0" lIns="0" bIns="0" rIns="0">
            <a:spAutoFit/>
          </a:bodyPr>
          <a:lstStyle/>
          <a:p>
            <a:pPr algn="r" rtl="true" marL="0" indent="0" lvl="0">
              <a:lnSpc>
                <a:spcPts val="2079"/>
              </a:lnSpc>
              <a:spcBef>
                <a:spcPct val="0"/>
              </a:spcBef>
            </a:pPr>
            <a:r>
              <a:rPr lang="ar-EG" sz="1599">
                <a:solidFill>
                  <a:srgbClr val="FFFFFF"/>
                </a:solidFill>
                <a:latin typeface="Open Sans"/>
                <a:ea typeface="Open Sans"/>
                <a:cs typeface="Open Sans"/>
                <a:sym typeface="Open Sans"/>
                <a:rtl val="true"/>
              </a:rPr>
              <a:t>عكس التبعية </a:t>
            </a:r>
            <a:r>
              <a:rPr lang="en-US" sz="1599" strike="noStrike" u="none">
                <a:solidFill>
                  <a:srgbClr val="FFFFFF"/>
                </a:solidFill>
                <a:latin typeface="Open Sans"/>
                <a:ea typeface="Open Sans"/>
                <a:cs typeface="Open Sans"/>
                <a:sym typeface="Open Sans"/>
              </a:rPr>
              <a:t>EnemySpawner</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يعتمد على</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واجهة</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EnemyPrototype</a:t>
            </a:r>
            <a:r>
              <a:rPr lang="ar-EG" sz="1599" strike="noStrike" u="none">
                <a:solidFill>
                  <a:srgbClr val="FFFFFF"/>
                </a:solidFill>
                <a:latin typeface="Open Sans"/>
                <a:ea typeface="Open Sans"/>
                <a:cs typeface="Open Sans"/>
                <a:sym typeface="Open Sans"/>
                <a:rtl val="true"/>
              </a:rPr>
              <a:t> وليس</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على كلاس</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Enemy</a:t>
            </a:r>
            <a:r>
              <a:rPr lang="ar-EG" sz="1599" strike="noStrike" u="none">
                <a:solidFill>
                  <a:srgbClr val="FFFFFF"/>
                </a:solidFill>
                <a:latin typeface="Open Sans"/>
                <a:ea typeface="Open Sans"/>
                <a:cs typeface="Open Sans"/>
                <a:sym typeface="Open Sans"/>
                <a:rtl val="true"/>
              </a:rPr>
              <a:t> مباشرة</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GameEventSystem</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يعتمد على</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واجهة</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GameObserver</a:t>
            </a:r>
            <a:r>
              <a:rPr lang="ar-EG" sz="1599" strike="noStrike" u="none">
                <a:solidFill>
                  <a:srgbClr val="FFFFFF"/>
                </a:solidFill>
                <a:latin typeface="Open Sans"/>
                <a:ea typeface="Open Sans"/>
                <a:cs typeface="Open Sans"/>
                <a:sym typeface="Open Sans"/>
                <a:rtl val="true"/>
              </a:rPr>
              <a:t> وليس</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على</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CoinManager</a:t>
            </a:r>
            <a:r>
              <a:rPr lang="ar-EG" sz="1599" strike="noStrike" u="none">
                <a:solidFill>
                  <a:srgbClr val="FFFFFF"/>
                </a:solidFill>
                <a:latin typeface="Open Sans"/>
                <a:ea typeface="Open Sans"/>
                <a:cs typeface="Open Sans"/>
                <a:sym typeface="Open Sans"/>
                <a:rtl val="true"/>
              </a:rPr>
              <a:t> مباشرة</a:t>
            </a:r>
            <a:r>
              <a:rPr lang="ar-EG" sz="1599" strike="noStrike" u="none">
                <a:solidFill>
                  <a:srgbClr val="FFFFFF"/>
                </a:solidFill>
                <a:latin typeface="Open Sans"/>
                <a:ea typeface="Open Sans"/>
                <a:cs typeface="Open Sans"/>
                <a:sym typeface="Open Sans"/>
                <a:rtl val="true"/>
              </a:rPr>
              <a:t>.</a:t>
            </a:r>
          </a:p>
        </p:txBody>
      </p:sp>
      <p:sp>
        <p:nvSpPr>
          <p:cNvPr name="TextBox 12" id="12"/>
          <p:cNvSpPr txBox="true"/>
          <p:nvPr/>
        </p:nvSpPr>
        <p:spPr>
          <a:xfrm rot="0">
            <a:off x="10287000" y="7381875"/>
            <a:ext cx="5715000" cy="333375"/>
          </a:xfrm>
          <a:prstGeom prst="rect">
            <a:avLst/>
          </a:prstGeom>
        </p:spPr>
        <p:txBody>
          <a:bodyPr anchor="t" rtlCol="false" tIns="0" lIns="0" bIns="0" rIns="0">
            <a:spAutoFit/>
          </a:bodyPr>
          <a:lstStyle/>
          <a:p>
            <a:pPr algn="r" marL="0" indent="0" lvl="0">
              <a:lnSpc>
                <a:spcPts val="2639"/>
              </a:lnSpc>
              <a:spcBef>
                <a:spcPct val="0"/>
              </a:spcBef>
            </a:pPr>
            <a:r>
              <a:rPr lang="en-US" sz="2199" strike="noStrike" u="none">
                <a:solidFill>
                  <a:srgbClr val="7ED957"/>
                </a:solidFill>
                <a:latin typeface="Garet"/>
                <a:ea typeface="Garet"/>
                <a:cs typeface="Garet"/>
                <a:sym typeface="Garet"/>
              </a:rPr>
              <a:t>Dependency Inversion</a:t>
            </a:r>
          </a:p>
        </p:txBody>
      </p:sp>
      <p:sp>
        <p:nvSpPr>
          <p:cNvPr name="TextBox 13" id="13"/>
          <p:cNvSpPr txBox="true"/>
          <p:nvPr/>
        </p:nvSpPr>
        <p:spPr>
          <a:xfrm rot="0">
            <a:off x="16668750" y="7391400"/>
            <a:ext cx="476250" cy="413329"/>
          </a:xfrm>
          <a:prstGeom prst="rect">
            <a:avLst/>
          </a:prstGeom>
        </p:spPr>
        <p:txBody>
          <a:bodyPr anchor="t" rtlCol="false" tIns="0" lIns="0" bIns="0" rIns="0">
            <a:spAutoFit/>
          </a:bodyPr>
          <a:lstStyle/>
          <a:p>
            <a:pPr algn="ctr" marL="0" indent="0" lvl="0">
              <a:lnSpc>
                <a:spcPts val="3147"/>
              </a:lnSpc>
              <a:spcBef>
                <a:spcPct val="0"/>
              </a:spcBef>
            </a:pPr>
            <a:r>
              <a:rPr lang="en-US" sz="3147" strike="noStrike" u="none">
                <a:solidFill>
                  <a:srgbClr val="222222"/>
                </a:solidFill>
                <a:latin typeface="Garet"/>
                <a:ea typeface="Garet"/>
                <a:cs typeface="Garet"/>
                <a:sym typeface="Garet"/>
              </a:rPr>
              <a:t>D</a:t>
            </a:r>
          </a:p>
        </p:txBody>
      </p:sp>
      <p:grpSp>
        <p:nvGrpSpPr>
          <p:cNvPr name="Group 14" id="14"/>
          <p:cNvGrpSpPr/>
          <p:nvPr/>
        </p:nvGrpSpPr>
        <p:grpSpPr>
          <a:xfrm rot="0">
            <a:off x="16668750" y="7334250"/>
            <a:ext cx="476250" cy="476250"/>
            <a:chOff x="0" y="0"/>
            <a:chExt cx="635000" cy="635000"/>
          </a:xfrm>
        </p:grpSpPr>
        <p:sp>
          <p:nvSpPr>
            <p:cNvPr name="Freeform 15" id="1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7ED957"/>
            </a:solidFill>
          </p:spPr>
        </p:sp>
      </p:grpSp>
      <p:sp>
        <p:nvSpPr>
          <p:cNvPr name="TextBox 16" id="16"/>
          <p:cNvSpPr txBox="true"/>
          <p:nvPr/>
        </p:nvSpPr>
        <p:spPr>
          <a:xfrm rot="0">
            <a:off x="2667000" y="6677025"/>
            <a:ext cx="13335000" cy="503555"/>
          </a:xfrm>
          <a:prstGeom prst="rect">
            <a:avLst/>
          </a:prstGeom>
        </p:spPr>
        <p:txBody>
          <a:bodyPr anchor="t" rtlCol="false" tIns="0" lIns="0" bIns="0" rIns="0">
            <a:spAutoFit/>
          </a:bodyPr>
          <a:lstStyle/>
          <a:p>
            <a:pPr algn="r" rtl="true" marL="0" indent="0" lvl="0">
              <a:lnSpc>
                <a:spcPts val="2079"/>
              </a:lnSpc>
              <a:spcBef>
                <a:spcPct val="0"/>
              </a:spcBef>
            </a:pPr>
            <a:r>
              <a:rPr lang="ar-EG" sz="1599">
                <a:solidFill>
                  <a:srgbClr val="FFFFFF"/>
                </a:solidFill>
                <a:latin typeface="Open Sans"/>
                <a:ea typeface="Open Sans"/>
                <a:cs typeface="Open Sans"/>
                <a:sym typeface="Open Sans"/>
                <a:rtl val="true"/>
              </a:rPr>
              <a:t>فصل الواجهات </a:t>
            </a:r>
            <a:r>
              <a:rPr lang="en-US" sz="1599" strike="noStrike" u="none">
                <a:solidFill>
                  <a:srgbClr val="FFFFFF"/>
                </a:solidFill>
                <a:latin typeface="Open Sans"/>
                <a:ea typeface="Open Sans"/>
                <a:cs typeface="Open Sans"/>
                <a:sym typeface="Open Sans"/>
              </a:rPr>
              <a:t>GameComponent</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تحتوي فقط</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على</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update</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و</a:t>
            </a:r>
            <a:r>
              <a:rPr lang="en-US" sz="1599" strike="noStrike" u="none">
                <a:solidFill>
                  <a:srgbClr val="FFFFFF"/>
                </a:solidFill>
                <a:latin typeface="Open Sans"/>
                <a:ea typeface="Open Sans"/>
                <a:cs typeface="Open Sans"/>
                <a:sym typeface="Open Sans"/>
              </a:rPr>
              <a:t>render(). GameObserver</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تحتوي فقط</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على</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onEvent</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لا</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يُجبر</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أي</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كلاس</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على</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تنفيذ دوال</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لا</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يحتاجها</a:t>
            </a:r>
            <a:r>
              <a:rPr lang="ar-EG" sz="1599" strike="noStrike" u="none">
                <a:solidFill>
                  <a:srgbClr val="FFFFFF"/>
                </a:solidFill>
                <a:latin typeface="Open Sans"/>
                <a:ea typeface="Open Sans"/>
                <a:cs typeface="Open Sans"/>
                <a:sym typeface="Open Sans"/>
                <a:rtl val="true"/>
              </a:rPr>
              <a:t>.</a:t>
            </a:r>
          </a:p>
        </p:txBody>
      </p:sp>
      <p:sp>
        <p:nvSpPr>
          <p:cNvPr name="TextBox 17" id="17"/>
          <p:cNvSpPr txBox="true"/>
          <p:nvPr/>
        </p:nvSpPr>
        <p:spPr>
          <a:xfrm rot="0">
            <a:off x="10287000" y="6143625"/>
            <a:ext cx="5715000" cy="333375"/>
          </a:xfrm>
          <a:prstGeom prst="rect">
            <a:avLst/>
          </a:prstGeom>
        </p:spPr>
        <p:txBody>
          <a:bodyPr anchor="t" rtlCol="false" tIns="0" lIns="0" bIns="0" rIns="0">
            <a:spAutoFit/>
          </a:bodyPr>
          <a:lstStyle/>
          <a:p>
            <a:pPr algn="r" marL="0" indent="0" lvl="0">
              <a:lnSpc>
                <a:spcPts val="2639"/>
              </a:lnSpc>
              <a:spcBef>
                <a:spcPct val="0"/>
              </a:spcBef>
            </a:pPr>
            <a:r>
              <a:rPr lang="en-US" sz="2199" strike="noStrike" u="none">
                <a:solidFill>
                  <a:srgbClr val="7ED957"/>
                </a:solidFill>
                <a:latin typeface="Garet"/>
                <a:ea typeface="Garet"/>
                <a:cs typeface="Garet"/>
                <a:sym typeface="Garet"/>
              </a:rPr>
              <a:t>Interface Segregation</a:t>
            </a:r>
          </a:p>
        </p:txBody>
      </p:sp>
      <p:sp>
        <p:nvSpPr>
          <p:cNvPr name="TextBox 18" id="18"/>
          <p:cNvSpPr txBox="true"/>
          <p:nvPr/>
        </p:nvSpPr>
        <p:spPr>
          <a:xfrm rot="0">
            <a:off x="16668750" y="6153150"/>
            <a:ext cx="476250" cy="413329"/>
          </a:xfrm>
          <a:prstGeom prst="rect">
            <a:avLst/>
          </a:prstGeom>
        </p:spPr>
        <p:txBody>
          <a:bodyPr anchor="t" rtlCol="false" tIns="0" lIns="0" bIns="0" rIns="0">
            <a:spAutoFit/>
          </a:bodyPr>
          <a:lstStyle/>
          <a:p>
            <a:pPr algn="ctr" marL="0" indent="0" lvl="0">
              <a:lnSpc>
                <a:spcPts val="3147"/>
              </a:lnSpc>
              <a:spcBef>
                <a:spcPct val="0"/>
              </a:spcBef>
            </a:pPr>
            <a:r>
              <a:rPr lang="en-US" sz="3147" strike="noStrike" u="none">
                <a:solidFill>
                  <a:srgbClr val="222222"/>
                </a:solidFill>
                <a:latin typeface="Garet"/>
                <a:ea typeface="Garet"/>
                <a:cs typeface="Garet"/>
                <a:sym typeface="Garet"/>
              </a:rPr>
              <a:t>I</a:t>
            </a:r>
          </a:p>
        </p:txBody>
      </p:sp>
      <p:grpSp>
        <p:nvGrpSpPr>
          <p:cNvPr name="Group 19" id="19"/>
          <p:cNvGrpSpPr/>
          <p:nvPr/>
        </p:nvGrpSpPr>
        <p:grpSpPr>
          <a:xfrm rot="0">
            <a:off x="16668750" y="6096000"/>
            <a:ext cx="476250" cy="476250"/>
            <a:chOff x="0" y="0"/>
            <a:chExt cx="635000" cy="635000"/>
          </a:xfrm>
        </p:grpSpPr>
        <p:sp>
          <p:nvSpPr>
            <p:cNvPr name="Freeform 20" id="20"/>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7ED957"/>
            </a:solidFill>
          </p:spPr>
        </p:sp>
      </p:grpSp>
      <p:sp>
        <p:nvSpPr>
          <p:cNvPr name="TextBox 21" id="21"/>
          <p:cNvSpPr txBox="true"/>
          <p:nvPr/>
        </p:nvSpPr>
        <p:spPr>
          <a:xfrm rot="0">
            <a:off x="2667000" y="5438775"/>
            <a:ext cx="13335000" cy="503555"/>
          </a:xfrm>
          <a:prstGeom prst="rect">
            <a:avLst/>
          </a:prstGeom>
        </p:spPr>
        <p:txBody>
          <a:bodyPr anchor="t" rtlCol="false" tIns="0" lIns="0" bIns="0" rIns="0">
            <a:spAutoFit/>
          </a:bodyPr>
          <a:lstStyle/>
          <a:p>
            <a:pPr algn="r" rtl="true" marL="0" indent="0" lvl="0">
              <a:lnSpc>
                <a:spcPts val="2079"/>
              </a:lnSpc>
              <a:spcBef>
                <a:spcPct val="0"/>
              </a:spcBef>
            </a:pPr>
            <a:r>
              <a:rPr lang="ar-EG" sz="1599">
                <a:solidFill>
                  <a:srgbClr val="FFFFFF"/>
                </a:solidFill>
                <a:latin typeface="Open Sans"/>
                <a:ea typeface="Open Sans"/>
                <a:cs typeface="Open Sans"/>
                <a:sym typeface="Open Sans"/>
                <a:rtl val="true"/>
              </a:rPr>
              <a:t>مبدأ استبدال </a:t>
            </a:r>
            <a:r>
              <a:rPr lang="en-US" sz="1599">
                <a:solidFill>
                  <a:srgbClr val="FFFFFF"/>
                </a:solidFill>
                <a:latin typeface="Open Sans"/>
                <a:ea typeface="Open Sans"/>
                <a:cs typeface="Open Sans"/>
                <a:sym typeface="Open Sans"/>
              </a:rPr>
              <a:t>Lisko</a:t>
            </a:r>
            <a:r>
              <a:rPr lang="en-US" sz="1599" strike="noStrike" u="none">
                <a:solidFill>
                  <a:srgbClr val="FFFFFF"/>
                </a:solidFill>
                <a:latin typeface="Open Sans"/>
                <a:ea typeface="Open Sans"/>
                <a:cs typeface="Open Sans"/>
                <a:sym typeface="Open Sans"/>
              </a:rPr>
              <a:t>v</a:t>
            </a:r>
            <a:r>
              <a:rPr lang="ar-EG" sz="1599" strike="noStrike" u="none">
                <a:solidFill>
                  <a:srgbClr val="FFFFFF"/>
                </a:solidFill>
                <a:latin typeface="Open Sans"/>
                <a:ea typeface="Open Sans"/>
                <a:cs typeface="Open Sans"/>
                <a:sym typeface="Open Sans"/>
                <a:rtl val="true"/>
              </a:rPr>
              <a:t> أي فئة فرعية من</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GameObject</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يمكن أن</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تحل</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محل</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GameObject</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دون</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كسر</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النظام</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أي منفذ لـ</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GameComponent</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يتصرف بشكل صحيح عند</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استدعائه</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عبر الواجهة</a:t>
            </a:r>
            <a:r>
              <a:rPr lang="ar-EG" sz="1599" strike="noStrike" u="none">
                <a:solidFill>
                  <a:srgbClr val="FFFFFF"/>
                </a:solidFill>
                <a:latin typeface="Open Sans"/>
                <a:ea typeface="Open Sans"/>
                <a:cs typeface="Open Sans"/>
                <a:sym typeface="Open Sans"/>
                <a:rtl val="true"/>
              </a:rPr>
              <a:t>.</a:t>
            </a:r>
          </a:p>
        </p:txBody>
      </p:sp>
      <p:sp>
        <p:nvSpPr>
          <p:cNvPr name="TextBox 22" id="22"/>
          <p:cNvSpPr txBox="true"/>
          <p:nvPr/>
        </p:nvSpPr>
        <p:spPr>
          <a:xfrm rot="0">
            <a:off x="10287000" y="4905375"/>
            <a:ext cx="5715000" cy="333375"/>
          </a:xfrm>
          <a:prstGeom prst="rect">
            <a:avLst/>
          </a:prstGeom>
        </p:spPr>
        <p:txBody>
          <a:bodyPr anchor="t" rtlCol="false" tIns="0" lIns="0" bIns="0" rIns="0">
            <a:spAutoFit/>
          </a:bodyPr>
          <a:lstStyle/>
          <a:p>
            <a:pPr algn="r" marL="0" indent="0" lvl="0">
              <a:lnSpc>
                <a:spcPts val="2639"/>
              </a:lnSpc>
              <a:spcBef>
                <a:spcPct val="0"/>
              </a:spcBef>
            </a:pPr>
            <a:r>
              <a:rPr lang="en-US" sz="2199" strike="noStrike" u="none">
                <a:solidFill>
                  <a:srgbClr val="7ED957"/>
                </a:solidFill>
                <a:latin typeface="Garet"/>
                <a:ea typeface="Garet"/>
                <a:cs typeface="Garet"/>
                <a:sym typeface="Garet"/>
              </a:rPr>
              <a:t>Liskov Substitution</a:t>
            </a:r>
          </a:p>
        </p:txBody>
      </p:sp>
      <p:sp>
        <p:nvSpPr>
          <p:cNvPr name="TextBox 23" id="23"/>
          <p:cNvSpPr txBox="true"/>
          <p:nvPr/>
        </p:nvSpPr>
        <p:spPr>
          <a:xfrm rot="0">
            <a:off x="16668750" y="4914900"/>
            <a:ext cx="476250" cy="413329"/>
          </a:xfrm>
          <a:prstGeom prst="rect">
            <a:avLst/>
          </a:prstGeom>
        </p:spPr>
        <p:txBody>
          <a:bodyPr anchor="t" rtlCol="false" tIns="0" lIns="0" bIns="0" rIns="0">
            <a:spAutoFit/>
          </a:bodyPr>
          <a:lstStyle/>
          <a:p>
            <a:pPr algn="ctr" marL="0" indent="0" lvl="0">
              <a:lnSpc>
                <a:spcPts val="3147"/>
              </a:lnSpc>
              <a:spcBef>
                <a:spcPct val="0"/>
              </a:spcBef>
            </a:pPr>
            <a:r>
              <a:rPr lang="en-US" sz="3147" strike="noStrike" u="none">
                <a:solidFill>
                  <a:srgbClr val="222222"/>
                </a:solidFill>
                <a:latin typeface="Garet"/>
                <a:ea typeface="Garet"/>
                <a:cs typeface="Garet"/>
                <a:sym typeface="Garet"/>
              </a:rPr>
              <a:t>L</a:t>
            </a:r>
          </a:p>
        </p:txBody>
      </p:sp>
      <p:grpSp>
        <p:nvGrpSpPr>
          <p:cNvPr name="Group 24" id="24"/>
          <p:cNvGrpSpPr/>
          <p:nvPr/>
        </p:nvGrpSpPr>
        <p:grpSpPr>
          <a:xfrm rot="0">
            <a:off x="16668750" y="4857750"/>
            <a:ext cx="476250" cy="476250"/>
            <a:chOff x="0" y="0"/>
            <a:chExt cx="635000" cy="635000"/>
          </a:xfrm>
        </p:grpSpPr>
        <p:sp>
          <p:nvSpPr>
            <p:cNvPr name="Freeform 25" id="2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7ED957"/>
            </a:solidFill>
          </p:spPr>
        </p:sp>
      </p:grpSp>
      <p:sp>
        <p:nvSpPr>
          <p:cNvPr name="TextBox 26" id="26"/>
          <p:cNvSpPr txBox="true"/>
          <p:nvPr/>
        </p:nvSpPr>
        <p:spPr>
          <a:xfrm rot="0">
            <a:off x="2667000" y="4200525"/>
            <a:ext cx="13335000" cy="503555"/>
          </a:xfrm>
          <a:prstGeom prst="rect">
            <a:avLst/>
          </a:prstGeom>
        </p:spPr>
        <p:txBody>
          <a:bodyPr anchor="t" rtlCol="false" tIns="0" lIns="0" bIns="0" rIns="0">
            <a:spAutoFit/>
          </a:bodyPr>
          <a:lstStyle/>
          <a:p>
            <a:pPr algn="r" rtl="true" marL="0" indent="0" lvl="0">
              <a:lnSpc>
                <a:spcPts val="2079"/>
              </a:lnSpc>
              <a:spcBef>
                <a:spcPct val="0"/>
              </a:spcBef>
            </a:pP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مفتوح</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للتوسع</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مغلق للتعديل أنواع الأعداء الجديدة تنفذ</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EnemyPrototype</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دون</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تعديل</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EnemySpawner</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المراقبون</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الجدد</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ينفذون</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GameObserver</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دون</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تعديل</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GameEventSystem</a:t>
            </a:r>
            <a:r>
              <a:rPr lang="ar-EG" sz="1599" strike="noStrike" u="none">
                <a:solidFill>
                  <a:srgbClr val="FFFFFF"/>
                </a:solidFill>
                <a:latin typeface="Open Sans"/>
                <a:ea typeface="Open Sans"/>
                <a:cs typeface="Open Sans"/>
                <a:sym typeface="Open Sans"/>
                <a:rtl val="true"/>
              </a:rPr>
              <a:t>.</a:t>
            </a:r>
          </a:p>
        </p:txBody>
      </p:sp>
      <p:sp>
        <p:nvSpPr>
          <p:cNvPr name="TextBox 27" id="27"/>
          <p:cNvSpPr txBox="true"/>
          <p:nvPr/>
        </p:nvSpPr>
        <p:spPr>
          <a:xfrm rot="0">
            <a:off x="10287000" y="3667125"/>
            <a:ext cx="5715000" cy="333375"/>
          </a:xfrm>
          <a:prstGeom prst="rect">
            <a:avLst/>
          </a:prstGeom>
        </p:spPr>
        <p:txBody>
          <a:bodyPr anchor="t" rtlCol="false" tIns="0" lIns="0" bIns="0" rIns="0">
            <a:spAutoFit/>
          </a:bodyPr>
          <a:lstStyle/>
          <a:p>
            <a:pPr algn="r" marL="0" indent="0" lvl="0">
              <a:lnSpc>
                <a:spcPts val="2639"/>
              </a:lnSpc>
              <a:spcBef>
                <a:spcPct val="0"/>
              </a:spcBef>
            </a:pPr>
            <a:r>
              <a:rPr lang="en-US" sz="2199" strike="noStrike" u="none">
                <a:solidFill>
                  <a:srgbClr val="7ED957"/>
                </a:solidFill>
                <a:latin typeface="Garet"/>
                <a:ea typeface="Garet"/>
                <a:cs typeface="Garet"/>
                <a:sym typeface="Garet"/>
              </a:rPr>
              <a:t>Open/Closed</a:t>
            </a:r>
          </a:p>
        </p:txBody>
      </p:sp>
      <p:sp>
        <p:nvSpPr>
          <p:cNvPr name="TextBox 28" id="28"/>
          <p:cNvSpPr txBox="true"/>
          <p:nvPr/>
        </p:nvSpPr>
        <p:spPr>
          <a:xfrm rot="0">
            <a:off x="16668750" y="3676650"/>
            <a:ext cx="476250" cy="413329"/>
          </a:xfrm>
          <a:prstGeom prst="rect">
            <a:avLst/>
          </a:prstGeom>
        </p:spPr>
        <p:txBody>
          <a:bodyPr anchor="t" rtlCol="false" tIns="0" lIns="0" bIns="0" rIns="0">
            <a:spAutoFit/>
          </a:bodyPr>
          <a:lstStyle/>
          <a:p>
            <a:pPr algn="ctr" marL="0" indent="0" lvl="0">
              <a:lnSpc>
                <a:spcPts val="3147"/>
              </a:lnSpc>
              <a:spcBef>
                <a:spcPct val="0"/>
              </a:spcBef>
            </a:pPr>
            <a:r>
              <a:rPr lang="en-US" sz="3147" strike="noStrike" u="none">
                <a:solidFill>
                  <a:srgbClr val="222222"/>
                </a:solidFill>
                <a:latin typeface="Garet"/>
                <a:ea typeface="Garet"/>
                <a:cs typeface="Garet"/>
                <a:sym typeface="Garet"/>
              </a:rPr>
              <a:t>O</a:t>
            </a:r>
          </a:p>
        </p:txBody>
      </p:sp>
      <p:grpSp>
        <p:nvGrpSpPr>
          <p:cNvPr name="Group 29" id="29"/>
          <p:cNvGrpSpPr/>
          <p:nvPr/>
        </p:nvGrpSpPr>
        <p:grpSpPr>
          <a:xfrm rot="0">
            <a:off x="16668750" y="3619500"/>
            <a:ext cx="476250" cy="476250"/>
            <a:chOff x="0" y="0"/>
            <a:chExt cx="635000" cy="635000"/>
          </a:xfrm>
        </p:grpSpPr>
        <p:sp>
          <p:nvSpPr>
            <p:cNvPr name="Freeform 30" id="30"/>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7ED957"/>
            </a:solidFill>
          </p:spPr>
        </p:sp>
      </p:grpSp>
      <p:sp>
        <p:nvSpPr>
          <p:cNvPr name="TextBox 31" id="31"/>
          <p:cNvSpPr txBox="true"/>
          <p:nvPr/>
        </p:nvSpPr>
        <p:spPr>
          <a:xfrm rot="0">
            <a:off x="2667000" y="2958147"/>
            <a:ext cx="13335000" cy="503555"/>
          </a:xfrm>
          <a:prstGeom prst="rect">
            <a:avLst/>
          </a:prstGeom>
        </p:spPr>
        <p:txBody>
          <a:bodyPr anchor="t" rtlCol="false" tIns="0" lIns="0" bIns="0" rIns="0">
            <a:spAutoFit/>
          </a:bodyPr>
          <a:lstStyle/>
          <a:p>
            <a:pPr algn="r" rtl="true" marL="0" indent="0" lvl="0">
              <a:lnSpc>
                <a:spcPts val="2079"/>
              </a:lnSpc>
              <a:spcBef>
                <a:spcPct val="0"/>
              </a:spcBef>
            </a:pPr>
            <a:r>
              <a:rPr lang="ar-EG" sz="1599">
                <a:solidFill>
                  <a:srgbClr val="FFFFFF"/>
                </a:solidFill>
                <a:latin typeface="Open Sans"/>
                <a:ea typeface="Open Sans"/>
                <a:cs typeface="Open Sans"/>
                <a:sym typeface="Open Sans"/>
                <a:rtl val="true"/>
              </a:rPr>
              <a:t> المسؤولية الفردية كل كلاس له مهمة واحدة فقط. </a:t>
            </a:r>
            <a:r>
              <a:rPr lang="en-US" sz="1599" strike="noStrike" u="none">
                <a:solidFill>
                  <a:srgbClr val="FFFFFF"/>
                </a:solidFill>
                <a:latin typeface="Open Sans"/>
                <a:ea typeface="Open Sans"/>
                <a:cs typeface="Open Sans"/>
                <a:sym typeface="Open Sans"/>
              </a:rPr>
              <a:t>GameEventSystem</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مهمته</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الإخطار فقط</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AudioManager</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مهمته تشغيل</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الصوت</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فقط</a:t>
            </a:r>
            <a:r>
              <a:rPr lang="ar-EG" sz="1599" strike="noStrike" u="none">
                <a:solidFill>
                  <a:srgbClr val="FFFFFF"/>
                </a:solidFill>
                <a:latin typeface="Open Sans"/>
                <a:ea typeface="Open Sans"/>
                <a:cs typeface="Open Sans"/>
                <a:sym typeface="Open Sans"/>
                <a:rtl val="true"/>
              </a:rPr>
              <a:t>. </a:t>
            </a:r>
            <a:r>
              <a:rPr lang="en-US" sz="1599" strike="noStrike" u="none">
                <a:solidFill>
                  <a:srgbClr val="FFFFFF"/>
                </a:solidFill>
                <a:latin typeface="Open Sans"/>
                <a:ea typeface="Open Sans"/>
                <a:cs typeface="Open Sans"/>
                <a:sym typeface="Open Sans"/>
              </a:rPr>
              <a:t>Wall</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مهمتها</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رسم نفسها</a:t>
            </a:r>
            <a:r>
              <a:rPr lang="ar-EG" sz="1599" strike="noStrike" u="none">
                <a:solidFill>
                  <a:srgbClr val="FFFFFF"/>
                </a:solidFill>
                <a:latin typeface="Open Sans"/>
                <a:ea typeface="Open Sans"/>
                <a:cs typeface="Open Sans"/>
                <a:sym typeface="Open Sans"/>
                <a:rtl val="true"/>
              </a:rPr>
              <a:t> </a:t>
            </a:r>
            <a:r>
              <a:rPr lang="ar-EG" sz="1599" strike="noStrike" u="none">
                <a:solidFill>
                  <a:srgbClr val="FFFFFF"/>
                </a:solidFill>
                <a:latin typeface="Open Sans"/>
                <a:ea typeface="Open Sans"/>
                <a:cs typeface="Open Sans"/>
                <a:sym typeface="Open Sans"/>
                <a:rtl val="true"/>
              </a:rPr>
              <a:t>فقط</a:t>
            </a:r>
            <a:r>
              <a:rPr lang="ar-EG" sz="1599" strike="noStrike" u="none">
                <a:solidFill>
                  <a:srgbClr val="FFFFFF"/>
                </a:solidFill>
                <a:latin typeface="Open Sans"/>
                <a:ea typeface="Open Sans"/>
                <a:cs typeface="Open Sans"/>
                <a:sym typeface="Open Sans"/>
                <a:rtl val="true"/>
              </a:rPr>
              <a:t>.</a:t>
            </a:r>
          </a:p>
        </p:txBody>
      </p:sp>
      <p:sp>
        <p:nvSpPr>
          <p:cNvPr name="TextBox 32" id="32"/>
          <p:cNvSpPr txBox="true"/>
          <p:nvPr/>
        </p:nvSpPr>
        <p:spPr>
          <a:xfrm rot="0">
            <a:off x="10287000" y="2428875"/>
            <a:ext cx="5715000" cy="333375"/>
          </a:xfrm>
          <a:prstGeom prst="rect">
            <a:avLst/>
          </a:prstGeom>
        </p:spPr>
        <p:txBody>
          <a:bodyPr anchor="t" rtlCol="false" tIns="0" lIns="0" bIns="0" rIns="0">
            <a:spAutoFit/>
          </a:bodyPr>
          <a:lstStyle/>
          <a:p>
            <a:pPr algn="r" marL="0" indent="0" lvl="0">
              <a:lnSpc>
                <a:spcPts val="2639"/>
              </a:lnSpc>
              <a:spcBef>
                <a:spcPct val="0"/>
              </a:spcBef>
            </a:pPr>
            <a:r>
              <a:rPr lang="en-US" sz="2199" strike="noStrike" u="none">
                <a:solidFill>
                  <a:srgbClr val="7ED957"/>
                </a:solidFill>
                <a:latin typeface="Garet"/>
                <a:ea typeface="Garet"/>
                <a:cs typeface="Garet"/>
                <a:sym typeface="Garet"/>
              </a:rPr>
              <a:t>Single Responsibility</a:t>
            </a:r>
          </a:p>
        </p:txBody>
      </p:sp>
      <p:sp>
        <p:nvSpPr>
          <p:cNvPr name="TextBox 33" id="33"/>
          <p:cNvSpPr txBox="true"/>
          <p:nvPr/>
        </p:nvSpPr>
        <p:spPr>
          <a:xfrm rot="0">
            <a:off x="16668750" y="2438400"/>
            <a:ext cx="476250" cy="413329"/>
          </a:xfrm>
          <a:prstGeom prst="rect">
            <a:avLst/>
          </a:prstGeom>
        </p:spPr>
        <p:txBody>
          <a:bodyPr anchor="t" rtlCol="false" tIns="0" lIns="0" bIns="0" rIns="0">
            <a:spAutoFit/>
          </a:bodyPr>
          <a:lstStyle/>
          <a:p>
            <a:pPr algn="ctr" marL="0" indent="0" lvl="0">
              <a:lnSpc>
                <a:spcPts val="3147"/>
              </a:lnSpc>
              <a:spcBef>
                <a:spcPct val="0"/>
              </a:spcBef>
            </a:pPr>
            <a:r>
              <a:rPr lang="en-US" sz="3147" strike="noStrike" u="none">
                <a:solidFill>
                  <a:srgbClr val="222222"/>
                </a:solidFill>
                <a:latin typeface="Garet"/>
                <a:ea typeface="Garet"/>
                <a:cs typeface="Garet"/>
                <a:sym typeface="Garet"/>
              </a:rPr>
              <a:t>S</a:t>
            </a:r>
          </a:p>
        </p:txBody>
      </p:sp>
      <p:grpSp>
        <p:nvGrpSpPr>
          <p:cNvPr name="Group 34" id="34"/>
          <p:cNvGrpSpPr/>
          <p:nvPr/>
        </p:nvGrpSpPr>
        <p:grpSpPr>
          <a:xfrm rot="0">
            <a:off x="16668750" y="2381250"/>
            <a:ext cx="476250" cy="476250"/>
            <a:chOff x="0" y="0"/>
            <a:chExt cx="635000" cy="635000"/>
          </a:xfrm>
        </p:grpSpPr>
        <p:sp>
          <p:nvSpPr>
            <p:cNvPr name="Freeform 35" id="35"/>
            <p:cNvSpPr/>
            <p:nvPr/>
          </p:nvSpPr>
          <p:spPr>
            <a:xfrm flipH="false" flipV="false" rot="0">
              <a:off x="0" y="0"/>
              <a:ext cx="635000" cy="635000"/>
            </a:xfrm>
            <a:custGeom>
              <a:avLst/>
              <a:gdLst/>
              <a:ahLst/>
              <a:cxnLst/>
              <a:rect r="r" b="b" t="t" l="l"/>
              <a:pathLst>
                <a:path h="635000" w="635000">
                  <a:moveTo>
                    <a:pt x="317500" y="0"/>
                  </a:moveTo>
                  <a:cubicBezTo>
                    <a:pt x="142150" y="0"/>
                    <a:pt x="0" y="142150"/>
                    <a:pt x="0" y="317500"/>
                  </a:cubicBezTo>
                  <a:cubicBezTo>
                    <a:pt x="0" y="492850"/>
                    <a:pt x="142150" y="635000"/>
                    <a:pt x="317500" y="635000"/>
                  </a:cubicBezTo>
                  <a:cubicBezTo>
                    <a:pt x="492850" y="635000"/>
                    <a:pt x="635000" y="492850"/>
                    <a:pt x="635000" y="317500"/>
                  </a:cubicBezTo>
                  <a:cubicBezTo>
                    <a:pt x="635000" y="142150"/>
                    <a:pt x="492850" y="0"/>
                    <a:pt x="317500" y="0"/>
                  </a:cubicBezTo>
                  <a:close/>
                </a:path>
              </a:pathLst>
            </a:custGeom>
            <a:solidFill>
              <a:srgbClr val="7ED957"/>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22222"/>
        </a:solidFill>
      </p:bgPr>
    </p:bg>
    <p:spTree>
      <p:nvGrpSpPr>
        <p:cNvPr id="1" name=""/>
        <p:cNvGrpSpPr/>
        <p:nvPr/>
      </p:nvGrpSpPr>
      <p:grpSpPr>
        <a:xfrm>
          <a:off x="0" y="0"/>
          <a:ext cx="0" cy="0"/>
          <a:chOff x="0" y="0"/>
          <a:chExt cx="0" cy="0"/>
        </a:xfrm>
      </p:grpSpPr>
      <p:sp>
        <p:nvSpPr>
          <p:cNvPr name="AutoShape 2" id="2"/>
          <p:cNvSpPr/>
          <p:nvPr/>
        </p:nvSpPr>
        <p:spPr>
          <a:xfrm>
            <a:off x="2062814" y="9239250"/>
            <a:ext cx="15196486" cy="0"/>
          </a:xfrm>
          <a:prstGeom prst="line">
            <a:avLst/>
          </a:prstGeom>
          <a:ln cap="flat" w="38100">
            <a:solidFill>
              <a:srgbClr val="FFFFFF"/>
            </a:solidFill>
            <a:prstDash val="solid"/>
            <a:headEnd type="none" len="sm" w="sm"/>
            <a:tailEnd type="none" len="sm" w="sm"/>
          </a:ln>
        </p:spPr>
      </p:sp>
      <p:sp>
        <p:nvSpPr>
          <p:cNvPr name="Freeform 3" id="3"/>
          <p:cNvSpPr/>
          <p:nvPr/>
        </p:nvSpPr>
        <p:spPr>
          <a:xfrm flipH="true" flipV="false" rot="0">
            <a:off x="838200" y="9048750"/>
            <a:ext cx="381000" cy="381000"/>
          </a:xfrm>
          <a:custGeom>
            <a:avLst/>
            <a:gdLst/>
            <a:ahLst/>
            <a:cxnLst/>
            <a:rect r="r" b="b" t="t" l="l"/>
            <a:pathLst>
              <a:path h="381000" w="381000">
                <a:moveTo>
                  <a:pt x="381000" y="0"/>
                </a:moveTo>
                <a:lnTo>
                  <a:pt x="0" y="0"/>
                </a:lnTo>
                <a:lnTo>
                  <a:pt x="0" y="381000"/>
                </a:lnTo>
                <a:lnTo>
                  <a:pt x="381000" y="381000"/>
                </a:lnTo>
                <a:lnTo>
                  <a:pt x="381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0560" y="9048750"/>
            <a:ext cx="381000" cy="381000"/>
          </a:xfrm>
          <a:custGeom>
            <a:avLst/>
            <a:gdLst/>
            <a:ahLst/>
            <a:cxnLst/>
            <a:rect r="r" b="b" t="t" l="l"/>
            <a:pathLst>
              <a:path h="381000" w="381000">
                <a:moveTo>
                  <a:pt x="0" y="0"/>
                </a:moveTo>
                <a:lnTo>
                  <a:pt x="381001" y="0"/>
                </a:lnTo>
                <a:lnTo>
                  <a:pt x="381001" y="381000"/>
                </a:lnTo>
                <a:lnTo>
                  <a:pt x="0" y="38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082153" y="833522"/>
            <a:ext cx="354294" cy="390407"/>
          </a:xfrm>
          <a:custGeom>
            <a:avLst/>
            <a:gdLst/>
            <a:ahLst/>
            <a:cxnLst/>
            <a:rect r="r" b="b" t="t" l="l"/>
            <a:pathLst>
              <a:path h="390407" w="354294">
                <a:moveTo>
                  <a:pt x="354294" y="0"/>
                </a:moveTo>
                <a:lnTo>
                  <a:pt x="0" y="0"/>
                </a:lnTo>
                <a:lnTo>
                  <a:pt x="0" y="390406"/>
                </a:lnTo>
                <a:lnTo>
                  <a:pt x="354294" y="390406"/>
                </a:lnTo>
                <a:lnTo>
                  <a:pt x="3542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965521" y="553470"/>
            <a:ext cx="6356958" cy="6356958"/>
          </a:xfrm>
          <a:custGeom>
            <a:avLst/>
            <a:gdLst/>
            <a:ahLst/>
            <a:cxnLst/>
            <a:rect r="r" b="b" t="t" l="l"/>
            <a:pathLst>
              <a:path h="6356958" w="6356958">
                <a:moveTo>
                  <a:pt x="0" y="0"/>
                </a:moveTo>
                <a:lnTo>
                  <a:pt x="6356958" y="0"/>
                </a:lnTo>
                <a:lnTo>
                  <a:pt x="6356958" y="6356958"/>
                </a:lnTo>
                <a:lnTo>
                  <a:pt x="0" y="6356958"/>
                </a:lnTo>
                <a:lnTo>
                  <a:pt x="0" y="0"/>
                </a:lnTo>
                <a:close/>
              </a:path>
            </a:pathLst>
          </a:custGeom>
          <a:blipFill>
            <a:blip r:embed="rId8"/>
            <a:stretch>
              <a:fillRect l="0" t="0" r="0" b="0"/>
            </a:stretch>
          </a:blipFill>
        </p:spPr>
      </p:sp>
      <p:sp>
        <p:nvSpPr>
          <p:cNvPr name="TextBox 7" id="7"/>
          <p:cNvSpPr txBox="true"/>
          <p:nvPr/>
        </p:nvSpPr>
        <p:spPr>
          <a:xfrm rot="0">
            <a:off x="1551060" y="6350058"/>
            <a:ext cx="15185879" cy="2129752"/>
          </a:xfrm>
          <a:prstGeom prst="rect">
            <a:avLst/>
          </a:prstGeom>
        </p:spPr>
        <p:txBody>
          <a:bodyPr anchor="t" rtlCol="false" tIns="0" lIns="0" bIns="0" rIns="0">
            <a:spAutoFit/>
          </a:bodyPr>
          <a:lstStyle/>
          <a:p>
            <a:pPr algn="ctr" rtl="true" marL="0" indent="0" lvl="0">
              <a:lnSpc>
                <a:spcPts val="16784"/>
              </a:lnSpc>
            </a:pPr>
            <a:r>
              <a:rPr lang="ar-EG" b="true" sz="14104" spc="1255">
                <a:solidFill>
                  <a:srgbClr val="FFFFFF"/>
                </a:solidFill>
                <a:latin typeface="Garet Bold"/>
                <a:ea typeface="Garet Bold"/>
                <a:cs typeface="Garet Bold"/>
                <a:sym typeface="Garet Bold"/>
                <a:rtl val="true"/>
              </a:rPr>
              <a:t>شكراً لكم</a:t>
            </a:r>
          </a:p>
        </p:txBody>
      </p:sp>
      <p:grpSp>
        <p:nvGrpSpPr>
          <p:cNvPr name="Group 8" id="8"/>
          <p:cNvGrpSpPr/>
          <p:nvPr/>
        </p:nvGrpSpPr>
        <p:grpSpPr>
          <a:xfrm rot="0">
            <a:off x="5673186" y="7379553"/>
            <a:ext cx="6941628" cy="1669197"/>
            <a:chOff x="0" y="0"/>
            <a:chExt cx="2037866" cy="490029"/>
          </a:xfrm>
        </p:grpSpPr>
        <p:sp>
          <p:nvSpPr>
            <p:cNvPr name="Freeform 9" id="9"/>
            <p:cNvSpPr/>
            <p:nvPr/>
          </p:nvSpPr>
          <p:spPr>
            <a:xfrm flipH="false" flipV="false" rot="0">
              <a:off x="0" y="0"/>
              <a:ext cx="2037866" cy="490029"/>
            </a:xfrm>
            <a:custGeom>
              <a:avLst/>
              <a:gdLst/>
              <a:ahLst/>
              <a:cxnLst/>
              <a:rect r="r" b="b" t="t" l="l"/>
              <a:pathLst>
                <a:path h="490029" w="2037866">
                  <a:moveTo>
                    <a:pt x="2037866" y="0"/>
                  </a:moveTo>
                  <a:lnTo>
                    <a:pt x="0" y="0"/>
                  </a:lnTo>
                  <a:lnTo>
                    <a:pt x="0" y="490029"/>
                  </a:lnTo>
                  <a:lnTo>
                    <a:pt x="2037866" y="490029"/>
                  </a:lnTo>
                  <a:close/>
                </a:path>
              </a:pathLst>
            </a:custGeom>
            <a:gradFill rotWithShape="true">
              <a:gsLst>
                <a:gs pos="0">
                  <a:srgbClr val="222222">
                    <a:alpha val="0"/>
                  </a:srgbClr>
                </a:gs>
                <a:gs pos="50000">
                  <a:srgbClr val="222222">
                    <a:alpha val="64000"/>
                  </a:srgbClr>
                </a:gs>
                <a:gs pos="100000">
                  <a:srgbClr val="222222">
                    <a:alpha val="100000"/>
                  </a:srgbClr>
                </a:gs>
              </a:gsLst>
              <a:lin ang="5400000"/>
            </a:gradFill>
          </p:spPr>
        </p:sp>
        <p:sp>
          <p:nvSpPr>
            <p:cNvPr name="TextBox 10" id="10"/>
            <p:cNvSpPr txBox="true"/>
            <p:nvPr/>
          </p:nvSpPr>
          <p:spPr>
            <a:xfrm>
              <a:off x="0" y="-38100"/>
              <a:ext cx="2037866" cy="528129"/>
            </a:xfrm>
            <a:prstGeom prst="rect">
              <a:avLst/>
            </a:prstGeom>
          </p:spPr>
          <p:txBody>
            <a:bodyPr anchor="ctr" rtlCol="false" tIns="50800" lIns="50800" bIns="50800" rIns="50800"/>
            <a:lstStyle/>
            <a:p>
              <a:pPr algn="ctr" rtl="true" marL="0" indent="0" lvl="0">
                <a:lnSpc>
                  <a:spcPts val="2659"/>
                </a:lnSpc>
              </a:pPr>
            </a:p>
          </p:txBody>
        </p:sp>
      </p:grpSp>
      <p:grpSp>
        <p:nvGrpSpPr>
          <p:cNvPr name="Group 11" id="11"/>
          <p:cNvGrpSpPr/>
          <p:nvPr/>
        </p:nvGrpSpPr>
        <p:grpSpPr>
          <a:xfrm rot="0">
            <a:off x="0" y="6055127"/>
            <a:ext cx="2155750" cy="316036"/>
            <a:chOff x="0" y="0"/>
            <a:chExt cx="567770" cy="83236"/>
          </a:xfrm>
        </p:grpSpPr>
        <p:sp>
          <p:nvSpPr>
            <p:cNvPr name="Freeform 12" id="12"/>
            <p:cNvSpPr/>
            <p:nvPr/>
          </p:nvSpPr>
          <p:spPr>
            <a:xfrm flipH="false" flipV="false" rot="0">
              <a:off x="0" y="0"/>
              <a:ext cx="567770" cy="83236"/>
            </a:xfrm>
            <a:custGeom>
              <a:avLst/>
              <a:gdLst/>
              <a:ahLst/>
              <a:cxnLst/>
              <a:rect r="r" b="b" t="t" l="l"/>
              <a:pathLst>
                <a:path h="83236" w="567770">
                  <a:moveTo>
                    <a:pt x="567770" y="0"/>
                  </a:moveTo>
                  <a:lnTo>
                    <a:pt x="0" y="0"/>
                  </a:lnTo>
                  <a:lnTo>
                    <a:pt x="0" y="83236"/>
                  </a:lnTo>
                  <a:lnTo>
                    <a:pt x="567770" y="83236"/>
                  </a:lnTo>
                  <a:close/>
                </a:path>
              </a:pathLst>
            </a:custGeom>
            <a:solidFill>
              <a:srgbClr val="7ED957"/>
            </a:solidFill>
          </p:spPr>
        </p:sp>
        <p:sp>
          <p:nvSpPr>
            <p:cNvPr name="TextBox 13" id="13"/>
            <p:cNvSpPr txBox="true"/>
            <p:nvPr/>
          </p:nvSpPr>
          <p:spPr>
            <a:xfrm>
              <a:off x="0" y="-19050"/>
              <a:ext cx="567770" cy="102286"/>
            </a:xfrm>
            <a:prstGeom prst="rect">
              <a:avLst/>
            </a:prstGeom>
          </p:spPr>
          <p:txBody>
            <a:bodyPr anchor="ctr" rtlCol="false" tIns="50800" lIns="50800" bIns="50800" rIns="50800"/>
            <a:lstStyle/>
            <a:p>
              <a:pPr algn="ctr" rtl="true" marL="0" indent="0" lvl="0">
                <a:lnSpc>
                  <a:spcPts val="2540"/>
                </a:lnSpc>
              </a:pPr>
            </a:p>
          </p:txBody>
        </p:sp>
      </p:grpSp>
      <p:grpSp>
        <p:nvGrpSpPr>
          <p:cNvPr name="Group 14" id="14"/>
          <p:cNvGrpSpPr/>
          <p:nvPr/>
        </p:nvGrpSpPr>
        <p:grpSpPr>
          <a:xfrm rot="0">
            <a:off x="16132250" y="6055127"/>
            <a:ext cx="2155750" cy="316036"/>
            <a:chOff x="0" y="0"/>
            <a:chExt cx="567770" cy="83236"/>
          </a:xfrm>
        </p:grpSpPr>
        <p:sp>
          <p:nvSpPr>
            <p:cNvPr name="Freeform 15" id="15"/>
            <p:cNvSpPr/>
            <p:nvPr/>
          </p:nvSpPr>
          <p:spPr>
            <a:xfrm flipH="false" flipV="false" rot="0">
              <a:off x="0" y="0"/>
              <a:ext cx="567770" cy="83236"/>
            </a:xfrm>
            <a:custGeom>
              <a:avLst/>
              <a:gdLst/>
              <a:ahLst/>
              <a:cxnLst/>
              <a:rect r="r" b="b" t="t" l="l"/>
              <a:pathLst>
                <a:path h="83236" w="567770">
                  <a:moveTo>
                    <a:pt x="567770" y="0"/>
                  </a:moveTo>
                  <a:lnTo>
                    <a:pt x="0" y="0"/>
                  </a:lnTo>
                  <a:lnTo>
                    <a:pt x="0" y="83236"/>
                  </a:lnTo>
                  <a:lnTo>
                    <a:pt x="567770" y="83236"/>
                  </a:lnTo>
                  <a:close/>
                </a:path>
              </a:pathLst>
            </a:custGeom>
            <a:solidFill>
              <a:srgbClr val="7ED957"/>
            </a:solidFill>
          </p:spPr>
        </p:sp>
        <p:sp>
          <p:nvSpPr>
            <p:cNvPr name="TextBox 16" id="16"/>
            <p:cNvSpPr txBox="true"/>
            <p:nvPr/>
          </p:nvSpPr>
          <p:spPr>
            <a:xfrm>
              <a:off x="0" y="-19050"/>
              <a:ext cx="567770" cy="102286"/>
            </a:xfrm>
            <a:prstGeom prst="rect">
              <a:avLst/>
            </a:prstGeom>
          </p:spPr>
          <p:txBody>
            <a:bodyPr anchor="ctr" rtlCol="false" tIns="50800" lIns="50800" bIns="50800" rIns="50800"/>
            <a:lstStyle/>
            <a:p>
              <a:pPr algn="ctr" rtl="true" marL="0" indent="0" lvl="0">
                <a:lnSpc>
                  <a:spcPts val="2540"/>
                </a:lnSpc>
              </a:pPr>
            </a:p>
          </p:txBody>
        </p:sp>
      </p:grpSp>
      <p:sp>
        <p:nvSpPr>
          <p:cNvPr name="Freeform 17" id="17"/>
          <p:cNvSpPr/>
          <p:nvPr/>
        </p:nvSpPr>
        <p:spPr>
          <a:xfrm flipH="true" flipV="false" rot="0">
            <a:off x="16692331" y="2516677"/>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true" flipV="false" rot="0">
            <a:off x="417122" y="7410171"/>
            <a:ext cx="1133938" cy="599570"/>
          </a:xfrm>
          <a:custGeom>
            <a:avLst/>
            <a:gdLst/>
            <a:ahLst/>
            <a:cxnLst/>
            <a:rect r="r" b="b" t="t" l="l"/>
            <a:pathLst>
              <a:path h="599570" w="1133938">
                <a:moveTo>
                  <a:pt x="1133938" y="0"/>
                </a:moveTo>
                <a:lnTo>
                  <a:pt x="0" y="0"/>
                </a:lnTo>
                <a:lnTo>
                  <a:pt x="0" y="599570"/>
                </a:lnTo>
                <a:lnTo>
                  <a:pt x="1133938" y="599570"/>
                </a:lnTo>
                <a:lnTo>
                  <a:pt x="1133938"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14309741" y="834605"/>
            <a:ext cx="2623970" cy="342406"/>
          </a:xfrm>
          <a:prstGeom prst="rect">
            <a:avLst/>
          </a:prstGeom>
        </p:spPr>
        <p:txBody>
          <a:bodyPr anchor="t" rtlCol="false" tIns="0" lIns="0" bIns="0" rIns="0">
            <a:spAutoFit/>
          </a:bodyPr>
          <a:lstStyle/>
          <a:p>
            <a:pPr algn="r" rtl="true" marL="0" indent="0" lvl="0">
              <a:lnSpc>
                <a:spcPts val="2792"/>
              </a:lnSpc>
            </a:pPr>
            <a:r>
              <a:rPr lang="ar-EG" b="true" sz="2198">
                <a:solidFill>
                  <a:srgbClr val="FFFFFF"/>
                </a:solidFill>
                <a:latin typeface="Garet Bold"/>
                <a:ea typeface="Garet Bold"/>
                <a:cs typeface="Garet Bold"/>
                <a:sym typeface="Garet Bold"/>
                <a:rtl val="true"/>
              </a:rPr>
              <a:t>أنماط التصميم</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DAHKJLM-37s</dc:identifier>
  <dcterms:modified xsi:type="dcterms:W3CDTF">2011-08-01T06:04:30Z</dcterms:modified>
  <cp:revision>1</cp:revision>
  <dc:title>شرح أنماط التصميم: Prototype, Composite, Observer</dc:title>
</cp:coreProperties>
</file>